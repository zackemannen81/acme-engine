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74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system claim: ACME is not a prompt library. It is an execution architecture that makes model-backed work typed, inspectable and replayable.</a:t>
            </a:r>
          </a:p>
          <a:p>
            <a:endParaRPr/>
          </a:p>
          <a:p>
            <a:r>
              <a:t>[Sources]</a:t>
            </a:r>
          </a:p>
          <a:p>
            <a:r>
              <a:t>- AGENTS.md — Project Identity and Fixed Architecture Guardrails</a:t>
            </a:r>
          </a:p>
          <a:p>
            <a:r>
              <a:t>- docs/PROJECT_BRIEF.md — Identity, Problem and Goals</a:t>
            </a:r>
          </a:p>
          <a:p>
            <a:r>
              <a:t>- docs/CURRENT_STATUS.md — Project Phase (2026-08-09)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project starts from a recurring implementation failure mode: too many responsibilities share one service boundary, so neither domain correctness nor operational correctness can be isolated.</a:t>
            </a:r>
          </a:p>
          <a:p>
            <a:endParaRPr/>
          </a:p>
          <a:p>
            <a:r>
              <a:t>[Sources]</a:t>
            </a:r>
          </a:p>
          <a:p>
            <a:r>
              <a:t>- docs/PROJECT_BRIEF.md — Problem</a:t>
            </a:r>
          </a:p>
          <a:p>
            <a:r>
              <a:t>- docs/SYSTEMDOC.md — System Purpose and Core Responsibilities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project's shortest useful explanation: model output is untrusted; canonical effects require deterministic gates and a transaction.</a:t>
            </a:r>
          </a:p>
          <a:p>
            <a:endParaRPr/>
          </a:p>
          <a:p>
            <a:r>
              <a:t>[Sources]</a:t>
            </a:r>
          </a:p>
          <a:p>
            <a:r>
              <a:t>- AGENTS.md — Fixed Architecture Guardrails</a:t>
            </a:r>
          </a:p>
          <a:p>
            <a:r>
              <a:t>- docs/PROJECT_BRIEF.md — Approved Direction</a:t>
            </a:r>
          </a:p>
          <a:p>
            <a:r>
              <a:t>- docs/SYSTEMDOC.md — Trust Boundary</a:t>
            </a:r>
          </a:p>
          <a:p>
            <a:r>
              <a:t>- docs/adr/0008-post-memory-domain-state-projection.md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dependency structure is intentionally visible in the workspace. Composition selects concrete adapters and domain modules; both depend inward on public core contracts.</a:t>
            </a:r>
          </a:p>
          <a:p>
            <a:endParaRPr/>
          </a:p>
          <a:p>
            <a:r>
              <a:t>[Sources]</a:t>
            </a:r>
          </a:p>
          <a:p>
            <a:r>
              <a:t>- AGENTS.md — Dependency Direction</a:t>
            </a:r>
          </a:p>
          <a:p>
            <a:r>
              <a:t>- docs/FILESTRUCTURE.md — Implemented Workspace</a:t>
            </a:r>
          </a:p>
          <a:p>
            <a:r>
              <a:t>- docs/adr/0002-static-task-typed-module-composition.md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execution path makes the trust boundary executable. No earlier stage is canonical truth, and replay never calls the provider.</a:t>
            </a:r>
          </a:p>
          <a:p>
            <a:endParaRPr/>
          </a:p>
          <a:p>
            <a:r>
              <a:t>[Sources]</a:t>
            </a:r>
          </a:p>
          <a:p>
            <a:r>
              <a:t>- docs/SYSTEMDOC.md — Trust Boundary and ExecutionEngine</a:t>
            </a:r>
          </a:p>
          <a:p>
            <a:r>
              <a:t>- docs/adr/0012-milestone-1-execution-identity-and-replay.md</a:t>
            </a:r>
          </a:p>
          <a:p>
            <a:r>
              <a:t>- docs/adr/0008-post-memory-domain-state-projection.md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repository's structure is part of the engineering proof: dependency rules reject forbidden imports, while conformance suites test interchangeable implementations through public ports.</a:t>
            </a:r>
          </a:p>
          <a:p>
            <a:endParaRPr/>
          </a:p>
          <a:p>
            <a:r>
              <a:t>[Sources]</a:t>
            </a:r>
          </a:p>
          <a:p>
            <a:r>
              <a:t>- docs/FILESTRUCTURE.md — repository map and Implemented Workspace</a:t>
            </a:r>
          </a:p>
          <a:p>
            <a:r>
              <a:t>- docs/CURRENT_STATUS.md — repository and boundary verification</a:t>
            </a:r>
          </a:p>
          <a:p>
            <a:r>
              <a:t>- AGENTS.md — Dependency Direction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Narrative and Research are deliberately different domains. Both use the same ExecutionEngine, memory mechanics, state mechanics, repository contract and replay path with no domain branch in core.</a:t>
            </a:r>
          </a:p>
          <a:p>
            <a:endParaRPr/>
          </a:p>
          <a:p>
            <a:r>
              <a:t>[Sources]</a:t>
            </a:r>
          </a:p>
          <a:p>
            <a:r>
              <a:t>- docs/PROJECT_BRIEF.md — Initial Reference Domains</a:t>
            </a:r>
          </a:p>
          <a:p>
            <a:r>
              <a:t>- docs/SYSTEMDOC.md — Implemented NarrativeModule, Implemented ResearchModule and Domain Proof</a:t>
            </a:r>
          </a:p>
          <a:p>
            <a:r>
              <a:t>- docs/adr/0002-static-task-typed-module-composition.md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Milestone 2 centers on failure evidence: injected faults prove rollback, two connections prove compare-and-swap, and resume proves the provider is not called twice after a post-call crash.</a:t>
            </a:r>
          </a:p>
          <a:p>
            <a:endParaRPr/>
          </a:p>
          <a:p>
            <a:r>
              <a:t>[Sources]</a:t>
            </a:r>
          </a:p>
          <a:p>
            <a:r>
              <a:t>- docs/CURRENT_STATUS.md — Project Phase and durability proofs</a:t>
            </a:r>
          </a:p>
          <a:p>
            <a:r>
              <a:t>- docs/adr/0003-sqlite-revisioned-unit-of-work.md</a:t>
            </a:r>
          </a:p>
          <a:p>
            <a:r>
              <a:t>- docs/adr/0017-durable-execution-resume.md</a:t>
            </a:r>
          </a:p>
          <a:p>
            <a:r>
              <a:t>- docs/adr/0018-outbox-delivery-boundary.md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quality architecture is intentionally plural. Post-execution quality is a sibling layer with its own append-only store; it cannot mutate execution evidence.</a:t>
            </a:r>
          </a:p>
          <a:p>
            <a:endParaRPr/>
          </a:p>
          <a:p>
            <a:r>
              <a:t>[Sources]</a:t>
            </a:r>
          </a:p>
          <a:p>
            <a:r>
              <a:t>- docs/SYSTEMDOC.md — Implemented Post-execution Quality Evaluation</a:t>
            </a:r>
          </a:p>
          <a:p>
            <a:r>
              <a:t>- docs/adr/0025-post-execution-quality-evaluation.md</a:t>
            </a:r>
          </a:p>
          <a:p>
            <a:r>
              <a:t>- docs/adr/0026-durable-quality-evaluation-store.md</a:t>
            </a:r>
          </a:p>
          <a:p>
            <a:r>
              <a:t>- docs/adr/0022-measurement-and-fixture-approval.md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chronology follows the archived task history. Each slice had a frozen charter, proportionate verification and a journal handoff before the next capability was activated.</a:t>
            </a:r>
          </a:p>
          <a:p>
            <a:endParaRPr/>
          </a:p>
          <a:p>
            <a:r>
              <a:t>[Sources]</a:t>
            </a:r>
          </a:p>
          <a:p>
            <a:r>
              <a:t>- docs/JOURNAL.md — ACME-0001 through ACME-0070 entries</a:t>
            </a:r>
          </a:p>
          <a:p>
            <a:r>
              <a:t>- docs/CURRENT_STATUS.md — Recent completed work</a:t>
            </a:r>
          </a:p>
          <a:p>
            <a:r>
              <a:t>- docs/TASK_WORKFLOW.md — Task states and scope freeze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implemented operator and developer surface as of the documentation sync on 2026-08-09. Live paths remain explicit opt-in and credentials stay in composition roots.</a:t>
            </a:r>
          </a:p>
          <a:p>
            <a:endParaRPr/>
          </a:p>
          <a:p>
            <a:r>
              <a:t>[Sources]</a:t>
            </a:r>
          </a:p>
          <a:p>
            <a:r>
              <a:t>- docs/CURRENT_STATUS.md — implemented CLI, Test UI, provider and quality surfaces</a:t>
            </a:r>
          </a:p>
          <a:p>
            <a:r>
              <a:t>- docs/SYSTEMDOC.md — Implemented Composition Root and Domain Test Surface</a:t>
            </a:r>
          </a:p>
          <a:p>
            <a:r>
              <a:t>- docs/adr/0019-domain-test-ui-boundary-and-view-contracts.md</a:t>
            </a:r>
          </a:p>
          <a:p>
            <a:r>
              <a:t>- docs/adr/0027-async-launch-job-progress-cancellation.md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evidence is layered so local logic, port interchangeability, package integration and domain scenarios can fail independently. Operator-run live tests also confirmed both reference contracts and a multi-step scenario.</a:t>
            </a:r>
          </a:p>
          <a:p>
            <a:endParaRPr/>
          </a:p>
          <a:p>
            <a:r>
              <a:t>[Sources]</a:t>
            </a:r>
          </a:p>
          <a:p>
            <a:r>
              <a:t>- docs/CURRENT_STATUS.md — measured test counts observed 2026-08-09</a:t>
            </a:r>
          </a:p>
          <a:p>
            <a:r>
              <a:t>- docs/JOURNAL.md — 2026-08-06 live multi-step ScenarioRunner success</a:t>
            </a:r>
          </a:p>
          <a:p>
            <a:r>
              <a:t>- docs/JOURNAL.md — 2026-08-09 ACME-0070 verification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project is explicit about its maturity. It proves architecture and failure behavior locally; it does not claim production hosting, package publication or a chosen production datastore.</a:t>
            </a:r>
          </a:p>
          <a:p>
            <a:endParaRPr/>
          </a:p>
          <a:p>
            <a:r>
              <a:t>[Sources]</a:t>
            </a:r>
          </a:p>
          <a:p>
            <a:r>
              <a:t>- docs/CURRENT_STATUS.md — Project Phase, Active Work and Persistent Gaps</a:t>
            </a:r>
          </a:p>
          <a:p>
            <a:r>
              <a:t>- docs/PROJECT_BRIEF.md — Next Deliverable</a:t>
            </a:r>
          </a:p>
          <a:p>
            <a:r>
              <a:t>- docs/SYSTEMDOC.md — Remaining Implementation Baseline and Deliberately Deferred Decisions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next recommended slice is finer trust-stage evidence. The remaining items are not silently in scope; the gap plan records dependencies and activation order.</a:t>
            </a:r>
          </a:p>
          <a:p>
            <a:endParaRPr/>
          </a:p>
          <a:p>
            <a:r>
              <a:t>[Sources]</a:t>
            </a:r>
          </a:p>
          <a:p>
            <a:r>
              <a:t>- docs/CURRENT_STATUS.md — Persistent Gaps G10–G18</a:t>
            </a:r>
          </a:p>
          <a:p>
            <a:r>
              <a:t>- docs/design/gap-resolution-plan.md</a:t>
            </a:r>
          </a:p>
          <a:p>
            <a:r>
              <a:t>- docs/SYSTEMDOC.md — Deliberately Deferred Decisions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on the transferable engineering approach: domain translation, integration through explicit boundaries, and evidence-led operational honesty. The repository is the reviewable implementation behind the deck.</a:t>
            </a:r>
          </a:p>
          <a:p>
            <a:endParaRPr/>
          </a:p>
          <a:p>
            <a:r>
              <a:t>[Sources]</a:t>
            </a:r>
          </a:p>
          <a:p>
            <a:r>
              <a:t>- AGENTS.md — project identity and guardrails</a:t>
            </a:r>
          </a:p>
          <a:p>
            <a:r>
              <a:t>- docs/PROJECT_BRIEF.md — goals and success test</a:t>
            </a:r>
          </a:p>
          <a:p>
            <a:r>
              <a:t>- docs/CURRENT_STATUS.md — repository remote and current evidence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3-1">
            <a:extLst>
              <a:ext uri="{FF2B5EF4-FFF2-40B4-BE49-F238E27FC236}">
                <a16:creationId xmlns:a16="http://schemas.microsoft.com/office/drawing/2014/main" id="{8A4D31EA-B1A7-4586-8997-5942E53FA2E7}"/>
              </a:ext>
            </a:extLst>
          </p:cNvPr>
          <p:cNvSpPr>
            <a:spLocks noGrp="1"/>
          </p:cNvSpPr>
          <p:nvPr/>
        </p:nvSpPr>
        <p:spPr>
          <a:xfrm>
            <a:off x="393668" y="1738789"/>
            <a:ext cx="9448800" cy="249145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ACME</a:t>
            </a:r>
          </a:p>
        </p:txBody>
      </p:sp>
      <p:sp>
        <p:nvSpPr>
          <p:cNvPr id="2" name="Subtitle-4-2">
            <a:extLst>
              <a:ext uri="{FF2B5EF4-FFF2-40B4-BE49-F238E27FC236}">
                <a16:creationId xmlns:a16="http://schemas.microsoft.com/office/drawing/2014/main" id="{162E2EDD-355C-483D-B4D6-C65AE19FDDB4}"/>
              </a:ext>
            </a:extLst>
          </p:cNvPr>
          <p:cNvSpPr>
            <a:spLocks noGrp="1"/>
          </p:cNvSpPr>
          <p:nvPr/>
        </p:nvSpPr>
        <p:spPr>
          <a:xfrm>
            <a:off x="393668" y="4742212"/>
            <a:ext cx="5702332" cy="108023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dirty="0">
                <a:solidFill>
                  <a:srgbClr val="5B6470"/>
                </a:solidFill>
                <a:latin typeface="Arial"/>
                <a:ea typeface="Arial"/>
                <a:cs typeface="Arial"/>
              </a:rPr>
              <a:t>A domain-neutral, </a:t>
            </a:r>
            <a:r>
              <a:rPr sz="1800" b="0" dirty="0" err="1">
                <a:solidFill>
                  <a:srgbClr val="5B6470"/>
                </a:solidFill>
                <a:latin typeface="Arial"/>
                <a:ea typeface="Arial"/>
                <a:cs typeface="Arial"/>
              </a:rPr>
              <a:t>replayable</a:t>
            </a:r>
            <a:r>
              <a:rPr sz="1800" b="0" dirty="0">
                <a:solidFill>
                  <a:srgbClr val="5B6470"/>
                </a:solidFill>
                <a:latin typeface="Arial"/>
                <a:ea typeface="Arial"/>
                <a:cs typeface="Arial"/>
              </a:rPr>
              <a:t> execution system for trustworthy AI workflows
Rickard Zakrisson · project dossier · August 2026</a:t>
            </a:r>
          </a:p>
        </p:txBody>
      </p:sp>
      <p:sp>
        <p:nvSpPr>
          <p:cNvPr id="3" name="Subtitle-4-3">
            <a:extLst>
              <a:ext uri="{FF2B5EF4-FFF2-40B4-BE49-F238E27FC236}">
                <a16:creationId xmlns:a16="http://schemas.microsoft.com/office/drawing/2014/main" id="{19674ACD-EEF0-4DFE-8FF8-799152AE9055}"/>
              </a:ext>
            </a:extLst>
          </p:cNvPr>
          <p:cNvSpPr>
            <a:spLocks noGrp="1"/>
          </p:cNvSpPr>
          <p:nvPr/>
        </p:nvSpPr>
        <p:spPr>
          <a:xfrm>
            <a:off x="393668" y="392240"/>
            <a:ext cx="5702332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ADAPTIVE CONTEXT MEMORY ENGINE</a:t>
            </a:r>
          </a:p>
        </p:txBody>
      </p:sp>
    </p:spTree>
    <p:extLst>
      <p:ext uri="{BB962C8B-B14F-4D97-AF65-F5344CB8AC3E}">
        <p14:creationId xmlns:p14="http://schemas.microsoft.com/office/powerpoint/2010/main" val="380802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-Shape-534-p58-1">
            <a:extLst>
              <a:ext uri="{FF2B5EF4-FFF2-40B4-BE49-F238E27FC236}">
                <a16:creationId xmlns:a16="http://schemas.microsoft.com/office/drawing/2014/main" id="{862467E8-9FDD-4A08-9D34-73BA15396D22}"/>
              </a:ext>
            </a:extLst>
          </p:cNvPr>
          <p:cNvSpPr>
            <a:spLocks noGrp="1"/>
          </p:cNvSpPr>
          <p:nvPr/>
        </p:nvSpPr>
        <p:spPr>
          <a:xfrm>
            <a:off x="393668" y="1838801"/>
            <a:ext cx="5533168" cy="415556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Coupled by default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Prompt construction, provider calls, domain interpretation, memory, state mutation and persistence often collapse into one service layer.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A model response can drift from candidate evidence into canonical state without an explicit trust boundary.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Domain changes, provider changes and recovery logic become entangled.</a:t>
            </a:r>
          </a:p>
        </p:txBody>
      </p:sp>
      <p:sp>
        <p:nvSpPr>
          <p:cNvPr id="2" name="Google-Shape-532-p58-3">
            <a:extLst>
              <a:ext uri="{FF2B5EF4-FFF2-40B4-BE49-F238E27FC236}">
                <a16:creationId xmlns:a16="http://schemas.microsoft.com/office/drawing/2014/main" id="{9DA1F10C-600E-4FDB-A35F-C6960F61ACBF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3" name="Google-Shape-533-p58-4">
            <a:extLst>
              <a:ext uri="{FF2B5EF4-FFF2-40B4-BE49-F238E27FC236}">
                <a16:creationId xmlns:a16="http://schemas.microsoft.com/office/drawing/2014/main" id="{C3F16594-167F-4518-B764-B96FF1BC58B3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risk starts when one service owns everything</a:t>
            </a:r>
          </a:p>
        </p:txBody>
      </p:sp>
      <p:sp>
        <p:nvSpPr>
          <p:cNvPr id="4" name="Google-Shape-534-p58-5">
            <a:extLst>
              <a:ext uri="{FF2B5EF4-FFF2-40B4-BE49-F238E27FC236}">
                <a16:creationId xmlns:a16="http://schemas.microsoft.com/office/drawing/2014/main" id="{567EA601-3709-4C64-8DF9-E655CB1A1936}"/>
              </a:ext>
            </a:extLst>
          </p:cNvPr>
          <p:cNvSpPr>
            <a:spLocks noGrp="1"/>
          </p:cNvSpPr>
          <p:nvPr/>
        </p:nvSpPr>
        <p:spPr>
          <a:xfrm>
            <a:off x="6265069" y="2192655"/>
            <a:ext cx="5537168" cy="380171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Consequences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Executions are difficult to audit or replay safely after failure.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Domain logic is hard to replace, and operational claims become difficult to prove.</a:t>
            </a:r>
          </a:p>
        </p:txBody>
      </p:sp>
    </p:spTree>
    <p:extLst>
      <p:ext uri="{BB962C8B-B14F-4D97-AF65-F5344CB8AC3E}">
        <p14:creationId xmlns:p14="http://schemas.microsoft.com/office/powerpoint/2010/main" val="1430947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-Shape-532-p58-2">
            <a:extLst>
              <a:ext uri="{FF2B5EF4-FFF2-40B4-BE49-F238E27FC236}">
                <a16:creationId xmlns:a16="http://schemas.microsoft.com/office/drawing/2014/main" id="{FF4BDE4B-CE07-48C2-8708-C1CC83BC0B42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50A5FFDC-9398-4C4B-8BC2-E47E5E3AB777}"/>
              </a:ext>
            </a:extLst>
          </p:cNvPr>
          <p:cNvSpPr>
            <a:spLocks noGrp="1"/>
          </p:cNvSpPr>
          <p:nvPr/>
        </p:nvSpPr>
        <p:spPr>
          <a:xfrm>
            <a:off x="393668" y="344519"/>
            <a:ext cx="11404568" cy="128301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ACME treats model output as a candidate, never as truth</a:t>
            </a:r>
          </a:p>
        </p:txBody>
      </p:sp>
      <p:sp>
        <p:nvSpPr>
          <p:cNvPr id="3" name="Rounded-Rectangle-9-4">
            <a:extLst>
              <a:ext uri="{FF2B5EF4-FFF2-40B4-BE49-F238E27FC236}">
                <a16:creationId xmlns:a16="http://schemas.microsoft.com/office/drawing/2014/main" id="{D3F470E2-5133-424D-8BE8-A10A15DC9426}"/>
              </a:ext>
            </a:extLst>
          </p:cNvPr>
          <p:cNvSpPr>
            <a:spLocks noGrp="1"/>
          </p:cNvSpPr>
          <p:nvPr/>
        </p:nvSpPr>
        <p:spPr>
          <a:xfrm>
            <a:off x="4308920" y="3365468"/>
            <a:ext cx="3568732" cy="2628900"/>
          </a:xfrm>
          <a:prstGeom prst="roundRect">
            <a:avLst>
              <a:gd name="adj" fmla="val 2899"/>
            </a:avLst>
          </a:prstGeom>
          <a:solidFill>
            <a:srgbClr val="F2F2F2"/>
          </a:solidFill>
        </p:spPr>
        <p:txBody>
          <a:bodyPr/>
          <a:lstStyle/>
          <a:p>
            <a:endParaRPr lang="sv-SE"/>
          </a:p>
        </p:txBody>
      </p:sp>
      <p:sp>
        <p:nvSpPr>
          <p:cNvPr id="4" name="Rounded-Rectangle-10-5">
            <a:extLst>
              <a:ext uri="{FF2B5EF4-FFF2-40B4-BE49-F238E27FC236}">
                <a16:creationId xmlns:a16="http://schemas.microsoft.com/office/drawing/2014/main" id="{0EA6ADE8-EA3F-4EBF-8014-603D3E303A13}"/>
              </a:ext>
            </a:extLst>
          </p:cNvPr>
          <p:cNvSpPr>
            <a:spLocks noGrp="1"/>
          </p:cNvSpPr>
          <p:nvPr/>
        </p:nvSpPr>
        <p:spPr>
          <a:xfrm>
            <a:off x="8229600" y="3365468"/>
            <a:ext cx="3568732" cy="2628900"/>
          </a:xfrm>
          <a:prstGeom prst="roundRect">
            <a:avLst>
              <a:gd name="adj" fmla="val 2899"/>
            </a:avLst>
          </a:prstGeom>
          <a:solidFill>
            <a:srgbClr val="F2F2F2"/>
          </a:solidFill>
        </p:spPr>
        <p:txBody>
          <a:bodyPr/>
          <a:lstStyle/>
          <a:p>
            <a:endParaRPr lang="sv-SE"/>
          </a:p>
        </p:txBody>
      </p:sp>
      <p:sp>
        <p:nvSpPr>
          <p:cNvPr id="5" name="Content-Placeholder-9-6">
            <a:extLst>
              <a:ext uri="{FF2B5EF4-FFF2-40B4-BE49-F238E27FC236}">
                <a16:creationId xmlns:a16="http://schemas.microsoft.com/office/drawing/2014/main" id="{4D61AA8C-AEB3-491B-ABF5-3A96A7456DCB}"/>
              </a:ext>
            </a:extLst>
          </p:cNvPr>
          <p:cNvSpPr>
            <a:spLocks noGrp="1"/>
          </p:cNvSpPr>
          <p:nvPr/>
        </p:nvSpPr>
        <p:spPr>
          <a:xfrm>
            <a:off x="4621816" y="4146137"/>
            <a:ext cx="2949321" cy="143284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Interpret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A task-typed domain module turns validated output into memory candidates and explicit state intent.</a:t>
            </a:r>
          </a:p>
        </p:txBody>
      </p:sp>
      <p:sp>
        <p:nvSpPr>
          <p:cNvPr id="6" name="Content-Placeholder-10-7">
            <a:extLst>
              <a:ext uri="{FF2B5EF4-FFF2-40B4-BE49-F238E27FC236}">
                <a16:creationId xmlns:a16="http://schemas.microsoft.com/office/drawing/2014/main" id="{DF41B4EF-897B-4BA8-9762-7B72E1723D3E}"/>
              </a:ext>
            </a:extLst>
          </p:cNvPr>
          <p:cNvSpPr>
            <a:spLocks noGrp="1"/>
          </p:cNvSpPr>
          <p:nvPr/>
        </p:nvSpPr>
        <p:spPr>
          <a:xfrm>
            <a:off x="8536115" y="4146137"/>
            <a:ext cx="2949321" cy="143284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Commit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Memory policy, state reducer and invariants prepare one atomic, revision-checked Unit of Work.</a:t>
            </a:r>
          </a:p>
        </p:txBody>
      </p:sp>
      <p:sp>
        <p:nvSpPr>
          <p:cNvPr id="7" name="Google-Shape-340-p61-8">
            <a:extLst>
              <a:ext uri="{FF2B5EF4-FFF2-40B4-BE49-F238E27FC236}">
                <a16:creationId xmlns:a16="http://schemas.microsoft.com/office/drawing/2014/main" id="{72E84381-AE2C-4C00-9144-06F6544A0460}"/>
              </a:ext>
            </a:extLst>
          </p:cNvPr>
          <p:cNvSpPr>
            <a:spLocks noGrp="1"/>
          </p:cNvSpPr>
          <p:nvPr/>
        </p:nvSpPr>
        <p:spPr>
          <a:xfrm>
            <a:off x="4627626" y="3694081"/>
            <a:ext cx="233839" cy="233744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 lang="sv-SE"/>
          </a:p>
        </p:txBody>
      </p:sp>
      <p:sp>
        <p:nvSpPr>
          <p:cNvPr id="8" name="Google-Shape-340-p61-9">
            <a:extLst>
              <a:ext uri="{FF2B5EF4-FFF2-40B4-BE49-F238E27FC236}">
                <a16:creationId xmlns:a16="http://schemas.microsoft.com/office/drawing/2014/main" id="{9FDF7026-3167-4FE9-8A39-FD7C4E60CC57}"/>
              </a:ext>
            </a:extLst>
          </p:cNvPr>
          <p:cNvSpPr>
            <a:spLocks noGrp="1"/>
          </p:cNvSpPr>
          <p:nvPr/>
        </p:nvSpPr>
        <p:spPr>
          <a:xfrm>
            <a:off x="8533257" y="3694081"/>
            <a:ext cx="233839" cy="233744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 lang="sv-SE"/>
          </a:p>
        </p:txBody>
      </p:sp>
      <p:sp>
        <p:nvSpPr>
          <p:cNvPr id="9" name="Rounded-Rectangle-5-10">
            <a:extLst>
              <a:ext uri="{FF2B5EF4-FFF2-40B4-BE49-F238E27FC236}">
                <a16:creationId xmlns:a16="http://schemas.microsoft.com/office/drawing/2014/main" id="{D460FE79-56B6-43C5-9013-6A87F9608A11}"/>
              </a:ext>
            </a:extLst>
          </p:cNvPr>
          <p:cNvSpPr>
            <a:spLocks noGrp="1"/>
          </p:cNvSpPr>
          <p:nvPr/>
        </p:nvSpPr>
        <p:spPr>
          <a:xfrm>
            <a:off x="388334" y="3365468"/>
            <a:ext cx="3568732" cy="2628900"/>
          </a:xfrm>
          <a:prstGeom prst="roundRect">
            <a:avLst>
              <a:gd name="adj" fmla="val 2899"/>
            </a:avLst>
          </a:prstGeom>
          <a:solidFill>
            <a:srgbClr val="F2F2F2"/>
          </a:solidFill>
        </p:spPr>
        <p:txBody>
          <a:bodyPr/>
          <a:lstStyle/>
          <a:p>
            <a:endParaRPr lang="sv-SE"/>
          </a:p>
        </p:txBody>
      </p:sp>
      <p:sp>
        <p:nvSpPr>
          <p:cNvPr id="10" name="Content-Placeholder-9-11">
            <a:extLst>
              <a:ext uri="{FF2B5EF4-FFF2-40B4-BE49-F238E27FC236}">
                <a16:creationId xmlns:a16="http://schemas.microsoft.com/office/drawing/2014/main" id="{9D6BA4F9-239C-48F2-AB18-4158BCA2BB37}"/>
              </a:ext>
            </a:extLst>
          </p:cNvPr>
          <p:cNvSpPr>
            <a:spLocks noGrp="1"/>
          </p:cNvSpPr>
          <p:nvPr/>
        </p:nvSpPr>
        <p:spPr>
          <a:xfrm>
            <a:off x="701135" y="4146137"/>
            <a:ext cx="2949321" cy="143284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Validate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Parse, runtime-schema check and semantic validation reject malformed or input-inconsistent output.</a:t>
            </a:r>
          </a:p>
        </p:txBody>
      </p:sp>
      <p:sp>
        <p:nvSpPr>
          <p:cNvPr id="11" name="Google-Shape-340-p61-12">
            <a:extLst>
              <a:ext uri="{FF2B5EF4-FFF2-40B4-BE49-F238E27FC236}">
                <a16:creationId xmlns:a16="http://schemas.microsoft.com/office/drawing/2014/main" id="{0E7B9515-E2FB-4021-8DD6-4A365853D050}"/>
              </a:ext>
            </a:extLst>
          </p:cNvPr>
          <p:cNvSpPr>
            <a:spLocks noGrp="1"/>
          </p:cNvSpPr>
          <p:nvPr/>
        </p:nvSpPr>
        <p:spPr>
          <a:xfrm>
            <a:off x="707041" y="3694081"/>
            <a:ext cx="233839" cy="233744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 lang="sv-SE"/>
          </a:p>
        </p:txBody>
      </p:sp>
      <p:sp>
        <p:nvSpPr>
          <p:cNvPr id="12" name="Content-Placeholder-15-13">
            <a:extLst>
              <a:ext uri="{FF2B5EF4-FFF2-40B4-BE49-F238E27FC236}">
                <a16:creationId xmlns:a16="http://schemas.microsoft.com/office/drawing/2014/main" id="{84E5B311-05FB-444D-B0FF-8160006D0A68}"/>
              </a:ext>
            </a:extLst>
          </p:cNvPr>
          <p:cNvSpPr>
            <a:spLocks noGrp="1"/>
          </p:cNvSpPr>
          <p:nvPr/>
        </p:nvSpPr>
        <p:spPr>
          <a:xfrm>
            <a:off x="393668" y="1450562"/>
            <a:ext cx="11404568" cy="1629251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central design thesis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A probabilistic model can propose structured work. Deterministic contracts, domain policy and recorded evidence decide whether anything becomes canonical.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The architecture is built around explicit transitions between those trust levels.</a:t>
            </a:r>
          </a:p>
        </p:txBody>
      </p:sp>
    </p:spTree>
    <p:extLst>
      <p:ext uri="{BB962C8B-B14F-4D97-AF65-F5344CB8AC3E}">
        <p14:creationId xmlns:p14="http://schemas.microsoft.com/office/powerpoint/2010/main" val="917527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apps-to-adapters"/>
          <p:cNvCxnSpPr/>
          <p:nvPr/>
        </p:nvCxnSpPr>
        <p:spPr>
          <a:xfrm>
            <a:off x="3524250" y="2200275"/>
            <a:ext cx="2381250" cy="76200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</a:ln>
        </p:spPr>
      </p:cxnSp>
      <p:cxnSp>
        <p:nvCxnSpPr>
          <p:cNvPr id="17" name="apps-to-modules"/>
          <p:cNvCxnSpPr/>
          <p:nvPr/>
        </p:nvCxnSpPr>
        <p:spPr>
          <a:xfrm>
            <a:off x="6286500" y="2200275"/>
            <a:ext cx="2381250" cy="76200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</a:ln>
        </p:spPr>
      </p:cxnSp>
      <p:cxnSp>
        <p:nvCxnSpPr>
          <p:cNvPr id="18" name="adapters-to-core"/>
          <p:cNvCxnSpPr/>
          <p:nvPr/>
        </p:nvCxnSpPr>
        <p:spPr>
          <a:xfrm>
            <a:off x="3524250" y="4105275"/>
            <a:ext cx="1619250" cy="80010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</a:ln>
        </p:spPr>
      </p:cxnSp>
      <p:cxnSp>
        <p:nvCxnSpPr>
          <p:cNvPr id="19" name="modules-to-core"/>
          <p:cNvCxnSpPr/>
          <p:nvPr/>
        </p:nvCxnSpPr>
        <p:spPr>
          <a:xfrm>
            <a:off x="7048500" y="4105275"/>
            <a:ext cx="1619250" cy="80010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</a:ln>
        </p:spPr>
      </p:cxnSp>
      <p:sp>
        <p:nvSpPr>
          <p:cNvPr id="5" name="apps-node">
            <a:extLst>
              <a:ext uri="{FF2B5EF4-FFF2-40B4-BE49-F238E27FC236}">
                <a16:creationId xmlns:a16="http://schemas.microsoft.com/office/drawing/2014/main" id="{73F74C9D-E13A-4F2F-8B0D-B1C184EC69C5}"/>
              </a:ext>
            </a:extLst>
          </p:cNvPr>
          <p:cNvSpPr>
            <a:spLocks noGrp="1"/>
          </p:cNvSpPr>
          <p:nvPr/>
        </p:nvSpPr>
        <p:spPr>
          <a:xfrm>
            <a:off x="2667000" y="1381125"/>
            <a:ext cx="6858000" cy="819150"/>
          </a:xfrm>
          <a:prstGeom prst="roundRect">
            <a:avLst>
              <a:gd name="adj" fmla="val 9302"/>
            </a:avLst>
          </a:prstGeom>
          <a:solidFill>
            <a:srgbClr val="6DCBF4"/>
          </a:solidFill>
          <a:ln w="0">
            <a:solidFill>
              <a:srgbClr val="6DCBF4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6" name="adapters-node">
            <a:extLst>
              <a:ext uri="{FF2B5EF4-FFF2-40B4-BE49-F238E27FC236}">
                <a16:creationId xmlns:a16="http://schemas.microsoft.com/office/drawing/2014/main" id="{15288506-BAED-448B-95C1-4B51158EF96A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4762500" cy="1143000"/>
          </a:xfrm>
          <a:prstGeom prst="roundRect">
            <a:avLst>
              <a:gd name="adj" fmla="val 6667"/>
            </a:avLst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modules-node">
            <a:extLst>
              <a:ext uri="{FF2B5EF4-FFF2-40B4-BE49-F238E27FC236}">
                <a16:creationId xmlns:a16="http://schemas.microsoft.com/office/drawing/2014/main" id="{89890C39-693A-4037-BB30-8EF8A13039B9}"/>
              </a:ext>
            </a:extLst>
          </p:cNvPr>
          <p:cNvSpPr>
            <a:spLocks noGrp="1"/>
          </p:cNvSpPr>
          <p:nvPr/>
        </p:nvSpPr>
        <p:spPr>
          <a:xfrm>
            <a:off x="6477000" y="2952750"/>
            <a:ext cx="4762500" cy="1143000"/>
          </a:xfrm>
          <a:prstGeom prst="roundRect">
            <a:avLst>
              <a:gd name="adj" fmla="val 6667"/>
            </a:avLst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8" name="core-node">
            <a:extLst>
              <a:ext uri="{FF2B5EF4-FFF2-40B4-BE49-F238E27FC236}">
                <a16:creationId xmlns:a16="http://schemas.microsoft.com/office/drawing/2014/main" id="{44844AED-8E0A-4D52-B935-195267C8E224}"/>
              </a:ext>
            </a:extLst>
          </p:cNvPr>
          <p:cNvSpPr>
            <a:spLocks noGrp="1"/>
          </p:cNvSpPr>
          <p:nvPr/>
        </p:nvSpPr>
        <p:spPr>
          <a:xfrm>
            <a:off x="1905000" y="4905375"/>
            <a:ext cx="8382000" cy="952500"/>
          </a:xfrm>
          <a:prstGeom prst="roundRect">
            <a:avLst>
              <a:gd name="adj" fmla="val 8000"/>
            </a:avLst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9" name="architecture-title">
            <a:extLst>
              <a:ext uri="{FF2B5EF4-FFF2-40B4-BE49-F238E27FC236}">
                <a16:creationId xmlns:a16="http://schemas.microsoft.com/office/drawing/2014/main" id="{171C249E-2E5B-44B7-A0EB-F3E8EE777228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architecture makes dependency direction visible</a:t>
            </a:r>
          </a:p>
        </p:txBody>
      </p:sp>
      <p:sp>
        <p:nvSpPr>
          <p:cNvPr id="10" name="apps-label">
            <a:extLst>
              <a:ext uri="{FF2B5EF4-FFF2-40B4-BE49-F238E27FC236}">
                <a16:creationId xmlns:a16="http://schemas.microsoft.com/office/drawing/2014/main" id="{6ECBCA54-8AE1-4D04-805E-7FA8689F7183}"/>
              </a:ext>
            </a:extLst>
          </p:cNvPr>
          <p:cNvSpPr>
            <a:spLocks noGrp="1"/>
          </p:cNvSpPr>
          <p:nvPr/>
        </p:nvSpPr>
        <p:spPr>
          <a:xfrm>
            <a:off x="2952750" y="1524000"/>
            <a:ext cx="628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APPS / COMPOSITION</a:t>
            </a:r>
          </a:p>
          <a:p>
            <a:pPr algn="ctr">
              <a:defRPr sz="1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 · Domain Test UI · static registry wiring</a:t>
            </a:r>
          </a:p>
        </p:txBody>
      </p:sp>
      <p:sp>
        <p:nvSpPr>
          <p:cNvPr id="11" name="adapters-label">
            <a:extLst>
              <a:ext uri="{FF2B5EF4-FFF2-40B4-BE49-F238E27FC236}">
                <a16:creationId xmlns:a16="http://schemas.microsoft.com/office/drawing/2014/main" id="{9C7AEFE9-9E40-46BA-97EA-CFB3047DF32C}"/>
              </a:ext>
            </a:extLst>
          </p:cNvPr>
          <p:cNvSpPr>
            <a:spLocks noGrp="1"/>
          </p:cNvSpPr>
          <p:nvPr/>
        </p:nvSpPr>
        <p:spPr>
          <a:xfrm>
            <a:off x="1238250" y="3133725"/>
            <a:ext cx="4191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ADAPTERS</a:t>
            </a:r>
          </a:p>
          <a:p>
            <a:pPr algn="ctr">
              <a:defRPr sz="1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Memory · SQLite · model mock · OpenAI Responses</a:t>
            </a:r>
          </a:p>
        </p:txBody>
      </p:sp>
      <p:sp>
        <p:nvSpPr>
          <p:cNvPr id="12" name="modules-label">
            <a:extLst>
              <a:ext uri="{FF2B5EF4-FFF2-40B4-BE49-F238E27FC236}">
                <a16:creationId xmlns:a16="http://schemas.microsoft.com/office/drawing/2014/main" id="{37E9CCC7-B9C7-456A-88CA-6C8440E53091}"/>
              </a:ext>
            </a:extLst>
          </p:cNvPr>
          <p:cNvSpPr>
            <a:spLocks noGrp="1"/>
          </p:cNvSpPr>
          <p:nvPr/>
        </p:nvSpPr>
        <p:spPr>
          <a:xfrm>
            <a:off x="6762750" y="3133725"/>
            <a:ext cx="4191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DOMAIN MODULES</a:t>
            </a:r>
          </a:p>
          <a:p>
            <a:pPr algn="ctr">
              <a:defRPr sz="1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Narrative · Research · domain policy and invariants</a:t>
            </a:r>
          </a:p>
        </p:txBody>
      </p:sp>
      <p:sp>
        <p:nvSpPr>
          <p:cNvPr id="13" name="core-label">
            <a:extLst>
              <a:ext uri="{FF2B5EF4-FFF2-40B4-BE49-F238E27FC236}">
                <a16:creationId xmlns:a16="http://schemas.microsoft.com/office/drawing/2014/main" id="{A5DFCEF0-436B-4BA2-9CB2-93BE0269356B}"/>
              </a:ext>
            </a:extLst>
          </p:cNvPr>
          <p:cNvSpPr>
            <a:spLocks noGrp="1"/>
          </p:cNvSpPr>
          <p:nvPr/>
        </p:nvSpPr>
        <p:spPr>
          <a:xfrm>
            <a:off x="2238375" y="5067300"/>
            <a:ext cx="7715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DOMAIN-NEUTRAL CORE</a:t>
            </a:r>
          </a:p>
          <a:p>
            <a:pPr algn="ctr">
              <a:defRPr sz="1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Contracts · ExecutionEngine · MemoryEngine · StateEngine · repository ports</a:t>
            </a:r>
          </a:p>
        </p:txBody>
      </p:sp>
      <p:sp>
        <p:nvSpPr>
          <p:cNvPr id="14" name="architecture-caption">
            <a:extLst>
              <a:ext uri="{FF2B5EF4-FFF2-40B4-BE49-F238E27FC236}">
                <a16:creationId xmlns:a16="http://schemas.microsoft.com/office/drawing/2014/main" id="{0F1E56F4-68E0-44C2-8431-46E557175A0F}"/>
              </a:ext>
            </a:extLst>
          </p:cNvPr>
          <p:cNvSpPr>
            <a:spLocks noGrp="1"/>
          </p:cNvSpPr>
          <p:nvPr/>
        </p:nvSpPr>
        <p:spPr>
          <a:xfrm>
            <a:off x="1905000" y="6019800"/>
            <a:ext cx="838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Ports face inward. Provider SDKs, databases, transports and domain vocabulary stay outside core.</a:t>
            </a:r>
          </a:p>
        </p:txBody>
      </p:sp>
      <p:sp>
        <p:nvSpPr>
          <p:cNvPr id="15" name="architecture-footer">
            <a:extLst>
              <a:ext uri="{FF2B5EF4-FFF2-40B4-BE49-F238E27FC236}">
                <a16:creationId xmlns:a16="http://schemas.microsoft.com/office/drawing/2014/main" id="{1B5EAA44-95B4-4DE0-847F-52B198666CC5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38646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Number-Placeholder-3-2">
            <a:extLst>
              <a:ext uri="{FF2B5EF4-FFF2-40B4-BE49-F238E27FC236}">
                <a16:creationId xmlns:a16="http://schemas.microsoft.com/office/drawing/2014/main" id="{0F62CA0A-0A68-443D-BE73-4FE5EC09BDD2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10-3">
            <a:extLst>
              <a:ext uri="{FF2B5EF4-FFF2-40B4-BE49-F238E27FC236}">
                <a16:creationId xmlns:a16="http://schemas.microsoft.com/office/drawing/2014/main" id="{650B7C45-18C5-40D4-BB4C-4EE429921A61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execution crosses three explicit trust stages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>
            <a:off x="337757" y="3373755"/>
            <a:ext cx="12245435" cy="286"/>
          </a:xfrm>
          <a:prstGeom prst="straightConnector1">
            <a:avLst/>
          </a:prstGeom>
          <a:ln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>
              <a:ext uri="{FF2B5EF4-FFF2-40B4-BE49-F238E27FC236}">
                <a16:creationId xmlns:a16="http://schemas.microsoft.com/office/drawing/2014/main" id="{61084163-43C4-4B09-8F38-EBD0F37905ED}"/>
              </a:ext>
            </a:extLst>
          </p:cNvPr>
          <p:cNvSpPr>
            <a:spLocks noGrp="1"/>
          </p:cNvSpPr>
          <p:nvPr/>
        </p:nvSpPr>
        <p:spPr>
          <a:xfrm>
            <a:off x="337757" y="3320225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sv-SE"/>
          </a:p>
        </p:txBody>
      </p:sp>
      <p:sp>
        <p:nvSpPr>
          <p:cNvPr id="5" name="Google-Shape-2261-p159-6">
            <a:extLst>
              <a:ext uri="{FF2B5EF4-FFF2-40B4-BE49-F238E27FC236}">
                <a16:creationId xmlns:a16="http://schemas.microsoft.com/office/drawing/2014/main" id="{5802865E-A532-4EA2-88EC-25FD21C14EAC}"/>
              </a:ext>
            </a:extLst>
          </p:cNvPr>
          <p:cNvSpPr>
            <a:spLocks noGrp="1"/>
          </p:cNvSpPr>
          <p:nvPr/>
        </p:nvSpPr>
        <p:spPr>
          <a:xfrm>
            <a:off x="4251770" y="3320225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sv-SE"/>
          </a:p>
        </p:txBody>
      </p:sp>
      <p:sp>
        <p:nvSpPr>
          <p:cNvPr id="6" name="Google-Shape-2262-p159-7">
            <a:extLst>
              <a:ext uri="{FF2B5EF4-FFF2-40B4-BE49-F238E27FC236}">
                <a16:creationId xmlns:a16="http://schemas.microsoft.com/office/drawing/2014/main" id="{A3C57836-C923-4CB6-BEB7-2D0A6152912F}"/>
              </a:ext>
            </a:extLst>
          </p:cNvPr>
          <p:cNvSpPr>
            <a:spLocks noGrp="1"/>
          </p:cNvSpPr>
          <p:nvPr/>
        </p:nvSpPr>
        <p:spPr>
          <a:xfrm>
            <a:off x="8176070" y="3320225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sv-SE"/>
          </a:p>
        </p:txBody>
      </p:sp>
      <p:sp>
        <p:nvSpPr>
          <p:cNvPr id="7" name="Content-Placeholder-15-8">
            <a:extLst>
              <a:ext uri="{FF2B5EF4-FFF2-40B4-BE49-F238E27FC236}">
                <a16:creationId xmlns:a16="http://schemas.microsoft.com/office/drawing/2014/main" id="{D5E8FA09-0F9D-4C58-9A3F-FA7ECE7055A9}"/>
              </a:ext>
            </a:extLst>
          </p:cNvPr>
          <p:cNvSpPr>
            <a:spLocks noGrp="1"/>
          </p:cNvSpPr>
          <p:nvPr/>
        </p:nvSpPr>
        <p:spPr>
          <a:xfrm>
            <a:off x="39366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 · CANDIDATE</a:t>
            </a:r>
          </a:p>
        </p:txBody>
      </p:sp>
      <p:sp>
        <p:nvSpPr>
          <p:cNvPr id="8" name="Content-Placeholder-15-9">
            <a:extLst>
              <a:ext uri="{FF2B5EF4-FFF2-40B4-BE49-F238E27FC236}">
                <a16:creationId xmlns:a16="http://schemas.microsoft.com/office/drawing/2014/main" id="{8A0CAC3F-98F0-4007-BCC6-3C60BD30DC0F}"/>
              </a:ext>
            </a:extLst>
          </p:cNvPr>
          <p:cNvSpPr>
            <a:spLocks noGrp="1"/>
          </p:cNvSpPr>
          <p:nvPr/>
        </p:nvSpPr>
        <p:spPr>
          <a:xfrm>
            <a:off x="4294156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 · DOMAIN DECISION</a:t>
            </a:r>
          </a:p>
        </p:txBody>
      </p:sp>
      <p:sp>
        <p:nvSpPr>
          <p:cNvPr id="9" name="Content-Placeholder-15-10">
            <a:extLst>
              <a:ext uri="{FF2B5EF4-FFF2-40B4-BE49-F238E27FC236}">
                <a16:creationId xmlns:a16="http://schemas.microsoft.com/office/drawing/2014/main" id="{3A800450-6D8C-4366-AC85-EEAD1EEEB183}"/>
              </a:ext>
            </a:extLst>
          </p:cNvPr>
          <p:cNvSpPr>
            <a:spLocks noGrp="1"/>
          </p:cNvSpPr>
          <p:nvPr/>
        </p:nvSpPr>
        <p:spPr>
          <a:xfrm>
            <a:off x="822321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 · CANONICAL EVIDENCE</a:t>
            </a:r>
          </a:p>
        </p:txBody>
      </p:sp>
      <p:sp>
        <p:nvSpPr>
          <p:cNvPr id="10" name="Text-Placeholder-16-11">
            <a:extLst>
              <a:ext uri="{FF2B5EF4-FFF2-40B4-BE49-F238E27FC236}">
                <a16:creationId xmlns:a16="http://schemas.microsoft.com/office/drawing/2014/main" id="{A09764CE-7B62-4E03-A852-E02D454181FA}"/>
              </a:ext>
            </a:extLst>
          </p:cNvPr>
          <p:cNvSpPr>
            <a:spLocks noGrp="1"/>
          </p:cNvSpPr>
          <p:nvPr/>
        </p:nvSpPr>
        <p:spPr>
          <a:xfrm>
            <a:off x="4317111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 gate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Interpretation, memory resolution, post-memory projection, reducer and invariants.</a:t>
            </a:r>
          </a:p>
        </p:txBody>
      </p:sp>
      <p:sp>
        <p:nvSpPr>
          <p:cNvPr id="11" name="Text-Placeholder-16-12">
            <a:extLst>
              <a:ext uri="{FF2B5EF4-FFF2-40B4-BE49-F238E27FC236}">
                <a16:creationId xmlns:a16="http://schemas.microsoft.com/office/drawing/2014/main" id="{B69603D6-656E-4CB0-9C71-EBC91C9054C5}"/>
              </a:ext>
            </a:extLst>
          </p:cNvPr>
          <p:cNvSpPr>
            <a:spLocks noGrp="1"/>
          </p:cNvSpPr>
          <p:nvPr/>
        </p:nvSpPr>
        <p:spPr>
          <a:xfrm>
            <a:off x="39985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Contract gate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Input-bound request construction, provider call, parsing, schema and semantic validation.</a:t>
            </a:r>
          </a:p>
        </p:txBody>
      </p:sp>
      <p:sp>
        <p:nvSpPr>
          <p:cNvPr id="12" name="Text-Placeholder-16-13">
            <a:extLst>
              <a:ext uri="{FF2B5EF4-FFF2-40B4-BE49-F238E27FC236}">
                <a16:creationId xmlns:a16="http://schemas.microsoft.com/office/drawing/2014/main" id="{BD789FA2-7158-450A-AFFC-337DDA58816F}"/>
              </a:ext>
            </a:extLst>
          </p:cNvPr>
          <p:cNvSpPr>
            <a:spLocks noGrp="1"/>
          </p:cNvSpPr>
          <p:nvPr/>
        </p:nvSpPr>
        <p:spPr>
          <a:xfrm>
            <a:off x="817787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Atomic commit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Ledger, documents, memory, state and outbox commit together; replay recomputes the digest offline.</a:t>
            </a:r>
          </a:p>
        </p:txBody>
      </p:sp>
    </p:spTree>
    <p:extLst>
      <p:ext uri="{BB962C8B-B14F-4D97-AF65-F5344CB8AC3E}">
        <p14:creationId xmlns:p14="http://schemas.microsoft.com/office/powerpoint/2010/main" val="2028689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-Shape-532-p58-2">
            <a:extLst>
              <a:ext uri="{FF2B5EF4-FFF2-40B4-BE49-F238E27FC236}">
                <a16:creationId xmlns:a16="http://schemas.microsoft.com/office/drawing/2014/main" id="{8BBB9EE6-DFFB-4A18-8F78-F32ECD2B752B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C7162697-0BD8-4CCC-BE42-6BE4980782A0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workspace mirrors the architecture</a:t>
            </a:r>
          </a:p>
        </p:txBody>
      </p:sp>
      <p:sp>
        <p:nvSpPr>
          <p:cNvPr id="3" name="Content-Placeholder-10-4">
            <a:extLst>
              <a:ext uri="{FF2B5EF4-FFF2-40B4-BE49-F238E27FC236}">
                <a16:creationId xmlns:a16="http://schemas.microsoft.com/office/drawing/2014/main" id="{0C06B729-501E-4D47-9FE6-BB2E7DE97A64}"/>
              </a:ext>
            </a:extLst>
          </p:cNvPr>
          <p:cNvSpPr>
            <a:spLocks noGrp="1"/>
          </p:cNvSpPr>
          <p:nvPr/>
        </p:nvSpPr>
        <p:spPr>
          <a:xfrm>
            <a:off x="6972300" y="2374868"/>
            <a:ext cx="4826032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Contracts, deterministic identities, ExecutionEngine, MemoryEngine, StateEngine and repository ports.</a:t>
            </a:r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F44F6A19-B2AC-471D-A26B-F437BC95CD83}"/>
              </a:ext>
            </a:extLst>
          </p:cNvPr>
          <p:cNvSpPr>
            <a:spLocks noGrp="1"/>
          </p:cNvSpPr>
          <p:nvPr/>
        </p:nvSpPr>
        <p:spPr>
          <a:xfrm>
            <a:off x="4851368" y="2374868"/>
            <a:ext cx="1866900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5" name="Content-Placeholder-10-6">
            <a:extLst>
              <a:ext uri="{FF2B5EF4-FFF2-40B4-BE49-F238E27FC236}">
                <a16:creationId xmlns:a16="http://schemas.microsoft.com/office/drawing/2014/main" id="{A1D040DC-84F7-4C6E-BFC0-75CEA259989C}"/>
              </a:ext>
            </a:extLst>
          </p:cNvPr>
          <p:cNvSpPr>
            <a:spLocks noGrp="1"/>
          </p:cNvSpPr>
          <p:nvPr/>
        </p:nvSpPr>
        <p:spPr>
          <a:xfrm>
            <a:off x="6972300" y="3365468"/>
            <a:ext cx="4826032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Narrative and Research own schemas, interpretation, memory policy, reducers and invariants.</a:t>
            </a:r>
          </a:p>
        </p:txBody>
      </p:sp>
      <p:sp>
        <p:nvSpPr>
          <p:cNvPr id="6" name="Content-Placeholder-10-7">
            <a:extLst>
              <a:ext uri="{FF2B5EF4-FFF2-40B4-BE49-F238E27FC236}">
                <a16:creationId xmlns:a16="http://schemas.microsoft.com/office/drawing/2014/main" id="{7429FCE9-905D-44D4-966F-FD81BFD766F3}"/>
              </a:ext>
            </a:extLst>
          </p:cNvPr>
          <p:cNvSpPr>
            <a:spLocks noGrp="1"/>
          </p:cNvSpPr>
          <p:nvPr/>
        </p:nvSpPr>
        <p:spPr>
          <a:xfrm>
            <a:off x="4851368" y="3365468"/>
            <a:ext cx="1866900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MODULES</a:t>
            </a:r>
          </a:p>
        </p:txBody>
      </p:sp>
      <p:sp>
        <p:nvSpPr>
          <p:cNvPr id="7" name="Content-Placeholder-10-8">
            <a:extLst>
              <a:ext uri="{FF2B5EF4-FFF2-40B4-BE49-F238E27FC236}">
                <a16:creationId xmlns:a16="http://schemas.microsoft.com/office/drawing/2014/main" id="{BB16E78C-E107-41D5-AE5F-FD9BABAA080E}"/>
              </a:ext>
            </a:extLst>
          </p:cNvPr>
          <p:cNvSpPr>
            <a:spLocks noGrp="1"/>
          </p:cNvSpPr>
          <p:nvPr/>
        </p:nvSpPr>
        <p:spPr>
          <a:xfrm>
            <a:off x="6972300" y="4356068"/>
            <a:ext cx="4826032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In-memory, SQLite, deterministic model mock and OpenAI Responses mapping behind ports.</a:t>
            </a:r>
          </a:p>
        </p:txBody>
      </p:sp>
      <p:sp>
        <p:nvSpPr>
          <p:cNvPr id="8" name="Content-Placeholder-10-9">
            <a:extLst>
              <a:ext uri="{FF2B5EF4-FFF2-40B4-BE49-F238E27FC236}">
                <a16:creationId xmlns:a16="http://schemas.microsoft.com/office/drawing/2014/main" id="{8A536E99-DDB4-47F9-B8F1-F34849625B56}"/>
              </a:ext>
            </a:extLst>
          </p:cNvPr>
          <p:cNvSpPr>
            <a:spLocks noGrp="1"/>
          </p:cNvSpPr>
          <p:nvPr/>
        </p:nvSpPr>
        <p:spPr>
          <a:xfrm>
            <a:off x="4851368" y="4356068"/>
            <a:ext cx="1866900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ADAPTERS</a:t>
            </a:r>
          </a:p>
        </p:txBody>
      </p:sp>
      <p:sp>
        <p:nvSpPr>
          <p:cNvPr id="9" name="Content-Placeholder-10-10">
            <a:extLst>
              <a:ext uri="{FF2B5EF4-FFF2-40B4-BE49-F238E27FC236}">
                <a16:creationId xmlns:a16="http://schemas.microsoft.com/office/drawing/2014/main" id="{A2E11536-11ED-484A-8142-F1690409573F}"/>
              </a:ext>
            </a:extLst>
          </p:cNvPr>
          <p:cNvSpPr>
            <a:spLocks noGrp="1"/>
          </p:cNvSpPr>
          <p:nvPr/>
        </p:nvSpPr>
        <p:spPr>
          <a:xfrm>
            <a:off x="6972300" y="5359432"/>
            <a:ext cx="4826032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CLI composition root, local Domain Test UI, reusable conformance kits and ScenarioRunner.</a:t>
            </a:r>
          </a:p>
        </p:txBody>
      </p:sp>
      <p:sp>
        <p:nvSpPr>
          <p:cNvPr id="10" name="Content-Placeholder-10-11">
            <a:extLst>
              <a:ext uri="{FF2B5EF4-FFF2-40B4-BE49-F238E27FC236}">
                <a16:creationId xmlns:a16="http://schemas.microsoft.com/office/drawing/2014/main" id="{5427834C-73DB-4E84-BA8F-7A171219851F}"/>
              </a:ext>
            </a:extLst>
          </p:cNvPr>
          <p:cNvSpPr>
            <a:spLocks noGrp="1"/>
          </p:cNvSpPr>
          <p:nvPr/>
        </p:nvSpPr>
        <p:spPr>
          <a:xfrm>
            <a:off x="4851368" y="5359432"/>
            <a:ext cx="1866900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APPS + TESTING</a:t>
            </a:r>
          </a:p>
        </p:txBody>
      </p:sp>
      <p:sp>
        <p:nvSpPr>
          <p:cNvPr id="11" name="Google-Shape-534-p58-12">
            <a:extLst>
              <a:ext uri="{FF2B5EF4-FFF2-40B4-BE49-F238E27FC236}">
                <a16:creationId xmlns:a16="http://schemas.microsoft.com/office/drawing/2014/main" id="{6A78EC24-2D51-432E-966B-2C57CF9495E3}"/>
              </a:ext>
            </a:extLst>
          </p:cNvPr>
          <p:cNvSpPr>
            <a:spLocks noGrp="1"/>
          </p:cNvSpPr>
          <p:nvPr/>
        </p:nvSpPr>
        <p:spPr>
          <a:xfrm>
            <a:off x="393668" y="2374868"/>
            <a:ext cx="3568732" cy="3619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docs-first monorepo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The folder map is not cosmetic: package boundaries and public entry points mirror architectural ownership.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Negative dependency fixtures make forbidden shortcuts mechanically testable.</a:t>
            </a:r>
          </a:p>
        </p:txBody>
      </p:sp>
    </p:spTree>
    <p:extLst>
      <p:ext uri="{BB962C8B-B14F-4D97-AF65-F5344CB8AC3E}">
        <p14:creationId xmlns:p14="http://schemas.microsoft.com/office/powerpoint/2010/main" val="448431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-Shape-532-p58-2">
            <a:extLst>
              <a:ext uri="{FF2B5EF4-FFF2-40B4-BE49-F238E27FC236}">
                <a16:creationId xmlns:a16="http://schemas.microsoft.com/office/drawing/2014/main" id="{0A454E75-F7A7-4D3E-8B5C-FFBC6290A934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9A3C13C1-925D-4989-8C60-B42EB698B15A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Two domains prove the core is not narrative-specific</a:t>
            </a:r>
          </a:p>
        </p:txBody>
      </p:sp>
      <p:sp>
        <p:nvSpPr>
          <p:cNvPr id="3" name="Google-Shape-534-p58-4">
            <a:extLst>
              <a:ext uri="{FF2B5EF4-FFF2-40B4-BE49-F238E27FC236}">
                <a16:creationId xmlns:a16="http://schemas.microsoft.com/office/drawing/2014/main" id="{A3DAC7C3-55BA-4BCE-809B-D649F59A62E5}"/>
              </a:ext>
            </a:extLst>
          </p:cNvPr>
          <p:cNvSpPr>
            <a:spLocks noGrp="1"/>
          </p:cNvSpPr>
          <p:nvPr/>
        </p:nvSpPr>
        <p:spPr>
          <a:xfrm>
            <a:off x="393668" y="2031968"/>
            <a:ext cx="5537168" cy="35348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NarrativeModule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Observes documents; preserves character facts, relationships and world rules in memory; projects scene, aliases and outline progress through a pure reducer.</a:t>
            </a:r>
          </a:p>
        </p:txBody>
      </p:sp>
      <p:sp>
        <p:nvSpPr>
          <p:cNvPr id="4" name="Content-Placeholder-3-5">
            <a:extLst>
              <a:ext uri="{FF2B5EF4-FFF2-40B4-BE49-F238E27FC236}">
                <a16:creationId xmlns:a16="http://schemas.microsoft.com/office/drawing/2014/main" id="{864E08C2-6473-42A3-82BC-0754BF81D0A3}"/>
              </a:ext>
            </a:extLst>
          </p:cNvPr>
          <p:cNvSpPr>
            <a:spLocks noGrp="1"/>
          </p:cNvSpPr>
          <p:nvPr/>
        </p:nvSpPr>
        <p:spPr>
          <a:xfrm>
            <a:off x="6256592" y="2031968"/>
            <a:ext cx="5537168" cy="353482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ResearchModule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Observes evidence; tracks claims, sources, independence and contradictions; verifies only after corroboration and contests rather than overwrites.</a:t>
            </a:r>
          </a:p>
        </p:txBody>
      </p:sp>
    </p:spTree>
    <p:extLst>
      <p:ext uri="{BB962C8B-B14F-4D97-AF65-F5344CB8AC3E}">
        <p14:creationId xmlns:p14="http://schemas.microsoft.com/office/powerpoint/2010/main" val="322334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Number-Placeholder-1-2">
            <a:extLst>
              <a:ext uri="{FF2B5EF4-FFF2-40B4-BE49-F238E27FC236}">
                <a16:creationId xmlns:a16="http://schemas.microsoft.com/office/drawing/2014/main" id="{54884F5B-DB0D-46FB-9973-5E928ED6B289}"/>
              </a:ext>
            </a:extLst>
          </p:cNvPr>
          <p:cNvSpPr>
            <a:spLocks noGrp="1"/>
          </p:cNvSpPr>
          <p:nvPr/>
        </p:nvSpPr>
        <p:spPr>
          <a:xfrm>
            <a:off x="11279219" y="6278594"/>
            <a:ext cx="519113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Title-2-3">
            <a:extLst>
              <a:ext uri="{FF2B5EF4-FFF2-40B4-BE49-F238E27FC236}">
                <a16:creationId xmlns:a16="http://schemas.microsoft.com/office/drawing/2014/main" id="{2640EF8C-C1B5-4FDF-8BC4-74DC5CA3AE1F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Durability is behavior ACME proves, not assumes</a:t>
            </a:r>
          </a:p>
        </p:txBody>
      </p:sp>
      <p:sp>
        <p:nvSpPr>
          <p:cNvPr id="3" name="Content-Placeholder-9-4">
            <a:extLst>
              <a:ext uri="{FF2B5EF4-FFF2-40B4-BE49-F238E27FC236}">
                <a16:creationId xmlns:a16="http://schemas.microsoft.com/office/drawing/2014/main" id="{EF7EECFE-4EE5-4E53-83E8-6E880B604B5B}"/>
              </a:ext>
            </a:extLst>
          </p:cNvPr>
          <p:cNvSpPr>
            <a:spLocks noGrp="1"/>
          </p:cNvSpPr>
          <p:nvPr/>
        </p:nvSpPr>
        <p:spPr>
          <a:xfrm>
            <a:off x="393668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Atomic commit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Documents, memory, state, events and the terminal result commit as one SQLite Unit of Work.</a:t>
            </a:r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671B7110-01BB-4558-9E5C-0154696E30ED}"/>
              </a:ext>
            </a:extLst>
          </p:cNvPr>
          <p:cNvSpPr>
            <a:spLocks noGrp="1"/>
          </p:cNvSpPr>
          <p:nvPr/>
        </p:nvSpPr>
        <p:spPr>
          <a:xfrm>
            <a:off x="6256592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Safe concurrency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Revision compare-and-swap lets exactly one contended writer commit; the loser writes nothing.</a:t>
            </a:r>
          </a:p>
        </p:txBody>
      </p:sp>
      <p:sp>
        <p:nvSpPr>
          <p:cNvPr id="5" name="Content-Placeholder-9-6">
            <a:extLst>
              <a:ext uri="{FF2B5EF4-FFF2-40B4-BE49-F238E27FC236}">
                <a16:creationId xmlns:a16="http://schemas.microsoft.com/office/drawing/2014/main" id="{B6EBEF71-1CBD-4B5D-B61A-39A13760790C}"/>
              </a:ext>
            </a:extLst>
          </p:cNvPr>
          <p:cNvSpPr>
            <a:spLocks noGrp="1"/>
          </p:cNvSpPr>
          <p:nvPr/>
        </p:nvSpPr>
        <p:spPr>
          <a:xfrm>
            <a:off x="393668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Resume without re-calling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A recorded successful model call can complete after interruption with zero additional provider calls.</a:t>
            </a:r>
          </a:p>
        </p:txBody>
      </p:sp>
      <p:sp>
        <p:nvSpPr>
          <p:cNvPr id="6" name="Content-Placeholder-10-7">
            <a:extLst>
              <a:ext uri="{FF2B5EF4-FFF2-40B4-BE49-F238E27FC236}">
                <a16:creationId xmlns:a16="http://schemas.microsoft.com/office/drawing/2014/main" id="{E84A813E-1FA4-4879-9525-DD0F5A2C2F06}"/>
              </a:ext>
            </a:extLst>
          </p:cNvPr>
          <p:cNvSpPr>
            <a:spLocks noGrp="1"/>
          </p:cNvSpPr>
          <p:nvPr/>
        </p:nvSpPr>
        <p:spPr>
          <a:xfrm>
            <a:off x="6256592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Replay + outbox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Replay recomputes the operation digest offline; committed events leave through an explicit at-least-once drain.</a:t>
            </a:r>
          </a:p>
        </p:txBody>
      </p:sp>
    </p:spTree>
    <p:extLst>
      <p:ext uri="{BB962C8B-B14F-4D97-AF65-F5344CB8AC3E}">
        <p14:creationId xmlns:p14="http://schemas.microsoft.com/office/powerpoint/2010/main" val="1589058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-Shape-532-p58-2">
            <a:extLst>
              <a:ext uri="{FF2B5EF4-FFF2-40B4-BE49-F238E27FC236}">
                <a16:creationId xmlns:a16="http://schemas.microsoft.com/office/drawing/2014/main" id="{25B320D9-E476-4D72-A1A6-8F4CCACD75B7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16E0C36A-0471-4450-880F-58D69165524C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Quality is separated into different questions</a:t>
            </a:r>
          </a:p>
        </p:txBody>
      </p:sp>
      <p:sp>
        <p:nvSpPr>
          <p:cNvPr id="3" name="Google-Shape-534-p58-4">
            <a:extLst>
              <a:ext uri="{FF2B5EF4-FFF2-40B4-BE49-F238E27FC236}">
                <a16:creationId xmlns:a16="http://schemas.microsoft.com/office/drawing/2014/main" id="{14DC4E98-362A-46EF-89D9-C150E3296615}"/>
              </a:ext>
            </a:extLst>
          </p:cNvPr>
          <p:cNvSpPr>
            <a:spLocks noGrp="1"/>
          </p:cNvSpPr>
          <p:nvPr/>
        </p:nvSpPr>
        <p:spPr>
          <a:xfrm>
            <a:off x="393668" y="1722406"/>
            <a:ext cx="5537168" cy="86515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ACME avoids one overloaded score. Exact assertions, population measurements, pre-commit gates, post-execution assessments and human fixture approval have different authority and lifecycle.</a:t>
            </a:r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A927A86E-0F8F-47D3-92C4-21C7C5BCD53D}"/>
              </a:ext>
            </a:extLst>
          </p:cNvPr>
          <p:cNvSpPr>
            <a:spLocks noGrp="1"/>
          </p:cNvSpPr>
          <p:nvPr/>
        </p:nvSpPr>
        <p:spPr>
          <a:xfrm>
            <a:off x="7886700" y="2990279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Assertion · did an exact fact hold?</a:t>
            </a:r>
          </a:p>
        </p:txBody>
      </p:sp>
      <p:sp>
        <p:nvSpPr>
          <p:cNvPr id="5" name="Google-Shape-340-p61-6">
            <a:extLst>
              <a:ext uri="{FF2B5EF4-FFF2-40B4-BE49-F238E27FC236}">
                <a16:creationId xmlns:a16="http://schemas.microsoft.com/office/drawing/2014/main" id="{BB3C976E-87DC-4F4C-B09A-ADCDAAD7C81E}"/>
              </a:ext>
            </a:extLst>
          </p:cNvPr>
          <p:cNvSpPr>
            <a:spLocks noGrp="1"/>
          </p:cNvSpPr>
          <p:nvPr/>
        </p:nvSpPr>
        <p:spPr>
          <a:xfrm>
            <a:off x="7507700" y="3015139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 lang="sv-SE"/>
          </a:p>
        </p:txBody>
      </p:sp>
      <p:sp>
        <p:nvSpPr>
          <p:cNvPr id="6" name="TextBox-11-7">
            <a:extLst>
              <a:ext uri="{FF2B5EF4-FFF2-40B4-BE49-F238E27FC236}">
                <a16:creationId xmlns:a16="http://schemas.microsoft.com/office/drawing/2014/main" id="{F9B938CB-C41D-41EF-A91D-63C95878A240}"/>
              </a:ext>
            </a:extLst>
          </p:cNvPr>
          <p:cNvSpPr>
            <a:spLocks noGrp="1"/>
          </p:cNvSpPr>
          <p:nvPr/>
        </p:nvSpPr>
        <p:spPr>
          <a:xfrm>
            <a:off x="393668" y="2990279"/>
            <a:ext cx="5537168" cy="28846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Each result remains attributable to the evidence and versioned contract that produced it.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A failed quality verdict is still a successful assessment; only an explicit assertion fails a scenario.</a:t>
            </a:r>
          </a:p>
        </p:txBody>
      </p:sp>
      <p:sp>
        <p:nvSpPr>
          <p:cNvPr id="7" name="Content-Placeholder-10-8">
            <a:extLst>
              <a:ext uri="{FF2B5EF4-FFF2-40B4-BE49-F238E27FC236}">
                <a16:creationId xmlns:a16="http://schemas.microsoft.com/office/drawing/2014/main" id="{F90AA5F3-AD89-48AE-AF68-2339500C64BB}"/>
              </a:ext>
            </a:extLst>
          </p:cNvPr>
          <p:cNvSpPr>
            <a:spLocks noGrp="1"/>
          </p:cNvSpPr>
          <p:nvPr/>
        </p:nvSpPr>
        <p:spPr>
          <a:xfrm>
            <a:off x="7886700" y="3599879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Metric · how did a run population behave?</a:t>
            </a:r>
          </a:p>
        </p:txBody>
      </p:sp>
      <p:sp>
        <p:nvSpPr>
          <p:cNvPr id="8" name="Google-Shape-340-p61-9">
            <a:extLst>
              <a:ext uri="{FF2B5EF4-FFF2-40B4-BE49-F238E27FC236}">
                <a16:creationId xmlns:a16="http://schemas.microsoft.com/office/drawing/2014/main" id="{B90558C4-E416-4523-AA52-8CD39CA6977E}"/>
              </a:ext>
            </a:extLst>
          </p:cNvPr>
          <p:cNvSpPr>
            <a:spLocks noGrp="1"/>
          </p:cNvSpPr>
          <p:nvPr/>
        </p:nvSpPr>
        <p:spPr>
          <a:xfrm>
            <a:off x="7507700" y="3624739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 lang="sv-SE"/>
          </a:p>
        </p:txBody>
      </p:sp>
      <p:sp>
        <p:nvSpPr>
          <p:cNvPr id="9" name="Content-Placeholder-10-10">
            <a:extLst>
              <a:ext uri="{FF2B5EF4-FFF2-40B4-BE49-F238E27FC236}">
                <a16:creationId xmlns:a16="http://schemas.microsoft.com/office/drawing/2014/main" id="{B8859745-29E1-47E7-AA47-1BE62FB45C2C}"/>
              </a:ext>
            </a:extLst>
          </p:cNvPr>
          <p:cNvSpPr>
            <a:spLocks noGrp="1"/>
          </p:cNvSpPr>
          <p:nvPr/>
        </p:nvSpPr>
        <p:spPr>
          <a:xfrm>
            <a:off x="7886700" y="4214813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Pre-commit gate · may the candidate commit?</a:t>
            </a:r>
          </a:p>
        </p:txBody>
      </p:sp>
      <p:sp>
        <p:nvSpPr>
          <p:cNvPr id="10" name="Google-Shape-340-p61-11">
            <a:extLst>
              <a:ext uri="{FF2B5EF4-FFF2-40B4-BE49-F238E27FC236}">
                <a16:creationId xmlns:a16="http://schemas.microsoft.com/office/drawing/2014/main" id="{29C79E3B-8AF1-4DC9-B393-6BFD0A6B8652}"/>
              </a:ext>
            </a:extLst>
          </p:cNvPr>
          <p:cNvSpPr>
            <a:spLocks noGrp="1"/>
          </p:cNvSpPr>
          <p:nvPr/>
        </p:nvSpPr>
        <p:spPr>
          <a:xfrm>
            <a:off x="7507700" y="4239578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 lang="sv-SE"/>
          </a:p>
        </p:txBody>
      </p:sp>
      <p:sp>
        <p:nvSpPr>
          <p:cNvPr id="11" name="Content-Placeholder-10-12">
            <a:extLst>
              <a:ext uri="{FF2B5EF4-FFF2-40B4-BE49-F238E27FC236}">
                <a16:creationId xmlns:a16="http://schemas.microsoft.com/office/drawing/2014/main" id="{50B9E233-7671-4C42-BBCE-FD5AD5265580}"/>
              </a:ext>
            </a:extLst>
          </p:cNvPr>
          <p:cNvSpPr>
            <a:spLocks noGrp="1"/>
          </p:cNvSpPr>
          <p:nvPr/>
        </p:nvSpPr>
        <p:spPr>
          <a:xfrm>
            <a:off x="7886700" y="4824317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Post-exec quality · how good was one bound result?</a:t>
            </a:r>
          </a:p>
        </p:txBody>
      </p:sp>
      <p:sp>
        <p:nvSpPr>
          <p:cNvPr id="12" name="Google-Shape-340-p61-13">
            <a:extLst>
              <a:ext uri="{FF2B5EF4-FFF2-40B4-BE49-F238E27FC236}">
                <a16:creationId xmlns:a16="http://schemas.microsoft.com/office/drawing/2014/main" id="{45FBEB5B-F4B6-4092-B753-6A45E80DDFFE}"/>
              </a:ext>
            </a:extLst>
          </p:cNvPr>
          <p:cNvSpPr>
            <a:spLocks noGrp="1"/>
          </p:cNvSpPr>
          <p:nvPr/>
        </p:nvSpPr>
        <p:spPr>
          <a:xfrm>
            <a:off x="7507700" y="4849178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 lang="sv-SE"/>
          </a:p>
        </p:txBody>
      </p:sp>
      <p:sp>
        <p:nvSpPr>
          <p:cNvPr id="13" name="Content-Placeholder-10-14">
            <a:extLst>
              <a:ext uri="{FF2B5EF4-FFF2-40B4-BE49-F238E27FC236}">
                <a16:creationId xmlns:a16="http://schemas.microsoft.com/office/drawing/2014/main" id="{1F23ADC6-DBCE-44EC-A1EE-435BE1F6054D}"/>
              </a:ext>
            </a:extLst>
          </p:cNvPr>
          <p:cNvSpPr>
            <a:spLocks noGrp="1"/>
          </p:cNvSpPr>
          <p:nvPr/>
        </p:nvSpPr>
        <p:spPr>
          <a:xfrm>
            <a:off x="7886700" y="5446681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Fixture approval · may a proposed reference change?</a:t>
            </a:r>
          </a:p>
        </p:txBody>
      </p:sp>
      <p:sp>
        <p:nvSpPr>
          <p:cNvPr id="14" name="Google-Shape-340-p61-15">
            <a:extLst>
              <a:ext uri="{FF2B5EF4-FFF2-40B4-BE49-F238E27FC236}">
                <a16:creationId xmlns:a16="http://schemas.microsoft.com/office/drawing/2014/main" id="{8D4EEE42-B1C8-4929-B2B7-FE53676EEDEA}"/>
              </a:ext>
            </a:extLst>
          </p:cNvPr>
          <p:cNvSpPr>
            <a:spLocks noGrp="1"/>
          </p:cNvSpPr>
          <p:nvPr/>
        </p:nvSpPr>
        <p:spPr>
          <a:xfrm>
            <a:off x="7507700" y="5471541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39832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Number-Placeholder-3-2">
            <a:extLst>
              <a:ext uri="{FF2B5EF4-FFF2-40B4-BE49-F238E27FC236}">
                <a16:creationId xmlns:a16="http://schemas.microsoft.com/office/drawing/2014/main" id="{307BAD60-E303-43FD-A1CB-C6B6E9AF8A6B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Title-10-3">
            <a:extLst>
              <a:ext uri="{FF2B5EF4-FFF2-40B4-BE49-F238E27FC236}">
                <a16:creationId xmlns:a16="http://schemas.microsoft.com/office/drawing/2014/main" id="{DAAA1456-269A-4530-8EE8-02E8739ADB8C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ACME evolved through proof, not feature accumulation</a:t>
            </a:r>
          </a:p>
        </p:txBody>
      </p:sp>
      <p:cxnSp>
        <p:nvCxnSpPr>
          <p:cNvPr id="18" name="Google-Shape-2259-p159-4"/>
          <p:cNvCxnSpPr/>
          <p:nvPr/>
        </p:nvCxnSpPr>
        <p:spPr>
          <a:xfrm>
            <a:off x="337757" y="5341620"/>
            <a:ext cx="12245435" cy="286"/>
          </a:xfrm>
          <a:prstGeom prst="straightConnector1">
            <a:avLst/>
          </a:prstGeom>
          <a:ln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>
              <a:ext uri="{FF2B5EF4-FFF2-40B4-BE49-F238E27FC236}">
                <a16:creationId xmlns:a16="http://schemas.microsoft.com/office/drawing/2014/main" id="{ACB78608-ED0E-4333-8130-E2A355772E19}"/>
              </a:ext>
            </a:extLst>
          </p:cNvPr>
          <p:cNvSpPr>
            <a:spLocks noGrp="1"/>
          </p:cNvSpPr>
          <p:nvPr/>
        </p:nvSpPr>
        <p:spPr>
          <a:xfrm>
            <a:off x="337757" y="5288089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sv-SE"/>
          </a:p>
        </p:txBody>
      </p:sp>
      <p:sp>
        <p:nvSpPr>
          <p:cNvPr id="5" name="Google-Shape-2261-p159-6">
            <a:extLst>
              <a:ext uri="{FF2B5EF4-FFF2-40B4-BE49-F238E27FC236}">
                <a16:creationId xmlns:a16="http://schemas.microsoft.com/office/drawing/2014/main" id="{AEBA23D1-8AC2-42E1-B954-8D1BD18F319F}"/>
              </a:ext>
            </a:extLst>
          </p:cNvPr>
          <p:cNvSpPr>
            <a:spLocks noGrp="1"/>
          </p:cNvSpPr>
          <p:nvPr/>
        </p:nvSpPr>
        <p:spPr>
          <a:xfrm>
            <a:off x="4251770" y="5288089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sv-SE"/>
          </a:p>
        </p:txBody>
      </p:sp>
      <p:sp>
        <p:nvSpPr>
          <p:cNvPr id="6" name="Google-Shape-2262-p159-7">
            <a:extLst>
              <a:ext uri="{FF2B5EF4-FFF2-40B4-BE49-F238E27FC236}">
                <a16:creationId xmlns:a16="http://schemas.microsoft.com/office/drawing/2014/main" id="{7B3E5251-ED74-4D0D-A958-EBD6C4250B4D}"/>
              </a:ext>
            </a:extLst>
          </p:cNvPr>
          <p:cNvSpPr>
            <a:spLocks noGrp="1"/>
          </p:cNvSpPr>
          <p:nvPr/>
        </p:nvSpPr>
        <p:spPr>
          <a:xfrm>
            <a:off x="8176070" y="5288089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sv-SE"/>
          </a:p>
        </p:txBody>
      </p:sp>
      <p:sp>
        <p:nvSpPr>
          <p:cNvPr id="7" name="Rounded-Rectangle-19-8">
            <a:extLst>
              <a:ext uri="{FF2B5EF4-FFF2-40B4-BE49-F238E27FC236}">
                <a16:creationId xmlns:a16="http://schemas.microsoft.com/office/drawing/2014/main" id="{520837EE-7775-4BB7-8FAA-97DB6855ECFC}"/>
              </a:ext>
            </a:extLst>
          </p:cNvPr>
          <p:cNvSpPr>
            <a:spLocks noGrp="1"/>
          </p:cNvSpPr>
          <p:nvPr/>
        </p:nvSpPr>
        <p:spPr>
          <a:xfrm>
            <a:off x="393668" y="1401794"/>
            <a:ext cx="3568732" cy="3619500"/>
          </a:xfrm>
          <a:prstGeom prst="roundRect">
            <a:avLst>
              <a:gd name="adj" fmla="val 2135"/>
            </a:avLst>
          </a:prstGeom>
          <a:solidFill>
            <a:srgbClr val="F2F2F2"/>
          </a:solidFill>
        </p:spPr>
        <p:txBody>
          <a:bodyPr/>
          <a:lstStyle/>
          <a:p>
            <a:endParaRPr lang="sv-SE"/>
          </a:p>
        </p:txBody>
      </p:sp>
      <p:sp>
        <p:nvSpPr>
          <p:cNvPr id="8" name="Content-Placeholder-8-9">
            <a:extLst>
              <a:ext uri="{FF2B5EF4-FFF2-40B4-BE49-F238E27FC236}">
                <a16:creationId xmlns:a16="http://schemas.microsoft.com/office/drawing/2014/main" id="{891AD874-8F5D-4C76-AAF7-4CE5F916E421}"/>
              </a:ext>
            </a:extLst>
          </p:cNvPr>
          <p:cNvSpPr>
            <a:spLocks noGrp="1"/>
          </p:cNvSpPr>
          <p:nvPr/>
        </p:nvSpPr>
        <p:spPr>
          <a:xfrm>
            <a:off x="703421" y="1806797"/>
            <a:ext cx="2949321" cy="2566797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Foundation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Docs-first chartering, typed contracts, pure state and memory engines, repositories, both domains and the bounded ExecutionEngine.</a:t>
            </a:r>
          </a:p>
        </p:txBody>
      </p:sp>
      <p:sp>
        <p:nvSpPr>
          <p:cNvPr id="9" name="Rounded-Rectangle-21-10">
            <a:extLst>
              <a:ext uri="{FF2B5EF4-FFF2-40B4-BE49-F238E27FC236}">
                <a16:creationId xmlns:a16="http://schemas.microsoft.com/office/drawing/2014/main" id="{79044FB9-842E-408B-9B80-A34035AA89B0}"/>
              </a:ext>
            </a:extLst>
          </p:cNvPr>
          <p:cNvSpPr>
            <a:spLocks noGrp="1"/>
          </p:cNvSpPr>
          <p:nvPr/>
        </p:nvSpPr>
        <p:spPr>
          <a:xfrm>
            <a:off x="4308443" y="1401794"/>
            <a:ext cx="3568732" cy="3619500"/>
          </a:xfrm>
          <a:prstGeom prst="roundRect">
            <a:avLst>
              <a:gd name="adj" fmla="val 2135"/>
            </a:avLst>
          </a:prstGeom>
          <a:solidFill>
            <a:srgbClr val="F2F2F2"/>
          </a:solidFill>
        </p:spPr>
        <p:txBody>
          <a:bodyPr/>
          <a:lstStyle/>
          <a:p>
            <a:endParaRPr lang="sv-SE"/>
          </a:p>
        </p:txBody>
      </p:sp>
      <p:sp>
        <p:nvSpPr>
          <p:cNvPr id="10" name="Content-Placeholder-8-11">
            <a:extLst>
              <a:ext uri="{FF2B5EF4-FFF2-40B4-BE49-F238E27FC236}">
                <a16:creationId xmlns:a16="http://schemas.microsoft.com/office/drawing/2014/main" id="{4AA1E484-FFC0-4669-8209-287D673B52CB}"/>
              </a:ext>
            </a:extLst>
          </p:cNvPr>
          <p:cNvSpPr>
            <a:spLocks noGrp="1"/>
          </p:cNvSpPr>
          <p:nvPr/>
        </p:nvSpPr>
        <p:spPr>
          <a:xfrm>
            <a:off x="4618196" y="1806797"/>
            <a:ext cx="2949321" cy="2566797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Live + durable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OpenAI Responses mapping, schema lowering, CLI, replay, encrypted retention, durable resume, rollback, CAS and outbox.</a:t>
            </a:r>
          </a:p>
        </p:txBody>
      </p:sp>
      <p:sp>
        <p:nvSpPr>
          <p:cNvPr id="11" name="Rounded-Rectangle-23-12">
            <a:extLst>
              <a:ext uri="{FF2B5EF4-FFF2-40B4-BE49-F238E27FC236}">
                <a16:creationId xmlns:a16="http://schemas.microsoft.com/office/drawing/2014/main" id="{C5D54B52-E5F1-4222-887C-5FF1BB72AB8E}"/>
              </a:ext>
            </a:extLst>
          </p:cNvPr>
          <p:cNvSpPr>
            <a:spLocks noGrp="1"/>
          </p:cNvSpPr>
          <p:nvPr/>
        </p:nvSpPr>
        <p:spPr>
          <a:xfrm>
            <a:off x="8237506" y="1401794"/>
            <a:ext cx="3568732" cy="3619500"/>
          </a:xfrm>
          <a:prstGeom prst="roundRect">
            <a:avLst>
              <a:gd name="adj" fmla="val 2135"/>
            </a:avLst>
          </a:prstGeom>
          <a:solidFill>
            <a:srgbClr val="F2F2F2"/>
          </a:solidFill>
        </p:spPr>
        <p:txBody>
          <a:bodyPr/>
          <a:lstStyle/>
          <a:p>
            <a:endParaRPr lang="sv-SE"/>
          </a:p>
        </p:txBody>
      </p:sp>
      <p:sp>
        <p:nvSpPr>
          <p:cNvPr id="12" name="Content-Placeholder-8-13">
            <a:extLst>
              <a:ext uri="{FF2B5EF4-FFF2-40B4-BE49-F238E27FC236}">
                <a16:creationId xmlns:a16="http://schemas.microsoft.com/office/drawing/2014/main" id="{954B3428-356F-49CF-BCF2-B4E80280522F}"/>
              </a:ext>
            </a:extLst>
          </p:cNvPr>
          <p:cNvSpPr>
            <a:spLocks noGrp="1"/>
          </p:cNvSpPr>
          <p:nvPr/>
        </p:nvSpPr>
        <p:spPr>
          <a:xfrm>
            <a:off x="8547259" y="1806797"/>
            <a:ext cx="2949321" cy="2566797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Workbench + quality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Domain Test UI S1–S10, S11 quality view, durable quality store, live-model judge and async launch with cancellation.</a:t>
            </a:r>
          </a:p>
        </p:txBody>
      </p:sp>
      <p:sp>
        <p:nvSpPr>
          <p:cNvPr id="13" name="Text-Placeholder-16-14">
            <a:extLst>
              <a:ext uri="{FF2B5EF4-FFF2-40B4-BE49-F238E27FC236}">
                <a16:creationId xmlns:a16="http://schemas.microsoft.com/office/drawing/2014/main" id="{6DFD06A8-17C1-4F42-8A52-DFF7B3B4586C}"/>
              </a:ext>
            </a:extLst>
          </p:cNvPr>
          <p:cNvSpPr>
            <a:spLocks noGrp="1"/>
          </p:cNvSpPr>
          <p:nvPr/>
        </p:nvSpPr>
        <p:spPr>
          <a:xfrm>
            <a:off x="4251770" y="5602414"/>
            <a:ext cx="2595944" cy="39195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 AUG</a:t>
            </a:r>
          </a:p>
        </p:txBody>
      </p:sp>
      <p:sp>
        <p:nvSpPr>
          <p:cNvPr id="14" name="Text-Placeholder-16-15">
            <a:extLst>
              <a:ext uri="{FF2B5EF4-FFF2-40B4-BE49-F238E27FC236}">
                <a16:creationId xmlns:a16="http://schemas.microsoft.com/office/drawing/2014/main" id="{C25036B9-D86D-4780-B4E8-12F37BC9CBB3}"/>
              </a:ext>
            </a:extLst>
          </p:cNvPr>
          <p:cNvSpPr>
            <a:spLocks noGrp="1"/>
          </p:cNvSpPr>
          <p:nvPr/>
        </p:nvSpPr>
        <p:spPr>
          <a:xfrm>
            <a:off x="390906" y="5602414"/>
            <a:ext cx="2595944" cy="39195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29–31 JUL</a:t>
            </a:r>
          </a:p>
        </p:txBody>
      </p:sp>
      <p:sp>
        <p:nvSpPr>
          <p:cNvPr id="15" name="Text-Placeholder-16-16">
            <a:extLst>
              <a:ext uri="{FF2B5EF4-FFF2-40B4-BE49-F238E27FC236}">
                <a16:creationId xmlns:a16="http://schemas.microsoft.com/office/drawing/2014/main" id="{21C9F45C-D0CE-4D40-A88B-CD6F6D400FF4}"/>
              </a:ext>
            </a:extLst>
          </p:cNvPr>
          <p:cNvSpPr>
            <a:spLocks noGrp="1"/>
          </p:cNvSpPr>
          <p:nvPr/>
        </p:nvSpPr>
        <p:spPr>
          <a:xfrm>
            <a:off x="8225409" y="5602414"/>
            <a:ext cx="2595944" cy="39195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2–9 AUG</a:t>
            </a:r>
          </a:p>
        </p:txBody>
      </p:sp>
    </p:spTree>
    <p:extLst>
      <p:ext uri="{BB962C8B-B14F-4D97-AF65-F5344CB8AC3E}">
        <p14:creationId xmlns:p14="http://schemas.microsoft.com/office/powerpoint/2010/main" val="666047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Number-Placeholder-3-2">
            <a:extLst>
              <a:ext uri="{FF2B5EF4-FFF2-40B4-BE49-F238E27FC236}">
                <a16:creationId xmlns:a16="http://schemas.microsoft.com/office/drawing/2014/main" id="{C18C4992-0315-478C-88FA-42C34D9C1C91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-10-3">
            <a:extLst>
              <a:ext uri="{FF2B5EF4-FFF2-40B4-BE49-F238E27FC236}">
                <a16:creationId xmlns:a16="http://schemas.microsoft.com/office/drawing/2014/main" id="{C72C5804-ED13-47DF-A72F-7EC0EE4C52C3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delivered surface spans code, CLI and browser</a:t>
            </a:r>
          </a:p>
        </p:txBody>
      </p:sp>
      <p:sp>
        <p:nvSpPr>
          <p:cNvPr id="3" name="Content-Placeholder-15-4">
            <a:extLst>
              <a:ext uri="{FF2B5EF4-FFF2-40B4-BE49-F238E27FC236}">
                <a16:creationId xmlns:a16="http://schemas.microsoft.com/office/drawing/2014/main" id="{3FAA1C47-D361-4613-9A5A-7F2E72BF28A2}"/>
              </a:ext>
            </a:extLst>
          </p:cNvPr>
          <p:cNvSpPr>
            <a:spLocks noGrp="1"/>
          </p:cNvSpPr>
          <p:nvPr/>
        </p:nvSpPr>
        <p:spPr>
          <a:xfrm>
            <a:off x="393668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Domain Test UI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Local S1–S10 workbench with progress and cancellation.</a:t>
            </a:r>
          </a:p>
        </p:txBody>
      </p:sp>
      <p:sp>
        <p:nvSpPr>
          <p:cNvPr id="4" name="Text-Placeholder-16-5">
            <a:extLst>
              <a:ext uri="{FF2B5EF4-FFF2-40B4-BE49-F238E27FC236}">
                <a16:creationId xmlns:a16="http://schemas.microsoft.com/office/drawing/2014/main" id="{26222A00-F793-4463-AE28-C14634C3DA4F}"/>
              </a:ext>
            </a:extLst>
          </p:cNvPr>
          <p:cNvSpPr>
            <a:spLocks noGrp="1"/>
          </p:cNvSpPr>
          <p:nvPr/>
        </p:nvSpPr>
        <p:spPr>
          <a:xfrm>
            <a:off x="3334988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Quality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List, inspect and live-judge stored assessments.</a:t>
            </a:r>
          </a:p>
        </p:txBody>
      </p:sp>
      <p:sp>
        <p:nvSpPr>
          <p:cNvPr id="5" name="Content-Placeholder-17-6">
            <a:extLst>
              <a:ext uri="{FF2B5EF4-FFF2-40B4-BE49-F238E27FC236}">
                <a16:creationId xmlns:a16="http://schemas.microsoft.com/office/drawing/2014/main" id="{932310B9-BE7E-4FF4-A501-3705B5B1F84E}"/>
              </a:ext>
            </a:extLst>
          </p:cNvPr>
          <p:cNvSpPr>
            <a:spLocks noGrp="1"/>
          </p:cNvSpPr>
          <p:nvPr/>
        </p:nvSpPr>
        <p:spPr>
          <a:xfrm>
            <a:off x="6264402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Provider path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OpenAI Responses mapping behind an injected transport.</a:t>
            </a:r>
          </a:p>
        </p:txBody>
      </p:sp>
      <p:sp>
        <p:nvSpPr>
          <p:cNvPr id="6" name="Text-Placeholder-18-7">
            <a:extLst>
              <a:ext uri="{FF2B5EF4-FFF2-40B4-BE49-F238E27FC236}">
                <a16:creationId xmlns:a16="http://schemas.microsoft.com/office/drawing/2014/main" id="{6C909D88-1BF1-4658-B448-4BF72062AA4B}"/>
              </a:ext>
            </a:extLst>
          </p:cNvPr>
          <p:cNvSpPr>
            <a:spLocks noGrp="1"/>
          </p:cNvSpPr>
          <p:nvPr/>
        </p:nvSpPr>
        <p:spPr>
          <a:xfrm>
            <a:off x="9205722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Conformance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Shared kits for repositories, gateways, modules and quality stores.</a:t>
            </a:r>
          </a:p>
        </p:txBody>
      </p:sp>
      <p:sp>
        <p:nvSpPr>
          <p:cNvPr id="7" name="Content-Placeholder-15-8">
            <a:extLst>
              <a:ext uri="{FF2B5EF4-FFF2-40B4-BE49-F238E27FC236}">
                <a16:creationId xmlns:a16="http://schemas.microsoft.com/office/drawing/2014/main" id="{41442173-D51F-42A6-8CC6-BBB83AEDAAEE}"/>
              </a:ext>
            </a:extLst>
          </p:cNvPr>
          <p:cNvSpPr>
            <a:spLocks noGrp="1"/>
          </p:cNvSpPr>
          <p:nvPr/>
        </p:nvSpPr>
        <p:spPr>
          <a:xfrm>
            <a:off x="393668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Single execution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Typed task execution with idempotency and bounded model calls.</a:t>
            </a:r>
          </a:p>
        </p:txBody>
      </p:sp>
      <p:sp>
        <p:nvSpPr>
          <p:cNvPr id="8" name="Text-Placeholder-16-9">
            <a:extLst>
              <a:ext uri="{FF2B5EF4-FFF2-40B4-BE49-F238E27FC236}">
                <a16:creationId xmlns:a16="http://schemas.microsoft.com/office/drawing/2014/main" id="{CD08E3A3-D9F9-46EB-BB56-031F2314B9AF}"/>
              </a:ext>
            </a:extLst>
          </p:cNvPr>
          <p:cNvSpPr>
            <a:spLocks noGrp="1"/>
          </p:cNvSpPr>
          <p:nvPr/>
        </p:nvSpPr>
        <p:spPr>
          <a:xfrm>
            <a:off x="3334988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ScenarioRunner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Deterministic and opt-in live multi-step scenarios.</a:t>
            </a:r>
          </a:p>
        </p:txBody>
      </p:sp>
      <p:sp>
        <p:nvSpPr>
          <p:cNvPr id="9" name="Content-Placeholder-17-10">
            <a:extLst>
              <a:ext uri="{FF2B5EF4-FFF2-40B4-BE49-F238E27FC236}">
                <a16:creationId xmlns:a16="http://schemas.microsoft.com/office/drawing/2014/main" id="{2E755D8E-D6CD-455F-86EC-AE9C5B20DCAC}"/>
              </a:ext>
            </a:extLst>
          </p:cNvPr>
          <p:cNvSpPr>
            <a:spLocks noGrp="1"/>
          </p:cNvSpPr>
          <p:nvPr/>
        </p:nvSpPr>
        <p:spPr>
          <a:xfrm>
            <a:off x="6264402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SQLite ledger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Durable evidence, state, memory and replay sidecars.</a:t>
            </a:r>
          </a:p>
        </p:txBody>
      </p:sp>
      <p:sp>
        <p:nvSpPr>
          <p:cNvPr id="10" name="Text-Placeholder-18-11">
            <a:extLst>
              <a:ext uri="{FF2B5EF4-FFF2-40B4-BE49-F238E27FC236}">
                <a16:creationId xmlns:a16="http://schemas.microsoft.com/office/drawing/2014/main" id="{44564B5F-0E4B-4E55-9BE5-6C281D01DCF1}"/>
              </a:ext>
            </a:extLst>
          </p:cNvPr>
          <p:cNvSpPr>
            <a:spLocks noGrp="1"/>
          </p:cNvSpPr>
          <p:nvPr/>
        </p:nvSpPr>
        <p:spPr>
          <a:xfrm>
            <a:off x="9205722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Outbox ops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Inspect, drain, redrive and file delivery.</a:t>
            </a:r>
          </a:p>
        </p:txBody>
      </p:sp>
    </p:spTree>
    <p:extLst>
      <p:ext uri="{BB962C8B-B14F-4D97-AF65-F5344CB8AC3E}">
        <p14:creationId xmlns:p14="http://schemas.microsoft.com/office/powerpoint/2010/main" val="976500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-Rectangle-5-1">
            <a:extLst>
              <a:ext uri="{FF2B5EF4-FFF2-40B4-BE49-F238E27FC236}">
                <a16:creationId xmlns:a16="http://schemas.microsoft.com/office/drawing/2014/main" id="{285D6730-9EBD-405E-A964-53A5C4D3C4A8}"/>
              </a:ext>
            </a:extLst>
          </p:cNvPr>
          <p:cNvSpPr>
            <a:spLocks noGrp="1"/>
          </p:cNvSpPr>
          <p:nvPr/>
        </p:nvSpPr>
        <p:spPr>
          <a:xfrm>
            <a:off x="393668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  <p:txBody>
          <a:bodyPr/>
          <a:lstStyle/>
          <a:p>
            <a:endParaRPr lang="sv-SE"/>
          </a:p>
        </p:txBody>
      </p:sp>
      <p:sp>
        <p:nvSpPr>
          <p:cNvPr id="2" name="Rounded-Rectangle-6-2">
            <a:extLst>
              <a:ext uri="{FF2B5EF4-FFF2-40B4-BE49-F238E27FC236}">
                <a16:creationId xmlns:a16="http://schemas.microsoft.com/office/drawing/2014/main" id="{309DD330-F995-4C7B-B6A2-C43253D9594B}"/>
              </a:ext>
            </a:extLst>
          </p:cNvPr>
          <p:cNvSpPr>
            <a:spLocks noGrp="1"/>
          </p:cNvSpPr>
          <p:nvPr/>
        </p:nvSpPr>
        <p:spPr>
          <a:xfrm>
            <a:off x="4311682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  <p:txBody>
          <a:bodyPr/>
          <a:lstStyle/>
          <a:p>
            <a:endParaRPr lang="sv-SE"/>
          </a:p>
        </p:txBody>
      </p:sp>
      <p:sp>
        <p:nvSpPr>
          <p:cNvPr id="3" name="Rounded-Rectangle-7-3">
            <a:extLst>
              <a:ext uri="{FF2B5EF4-FFF2-40B4-BE49-F238E27FC236}">
                <a16:creationId xmlns:a16="http://schemas.microsoft.com/office/drawing/2014/main" id="{8B425D3C-CD94-44BD-960D-E8C9DA256214}"/>
              </a:ext>
            </a:extLst>
          </p:cNvPr>
          <p:cNvSpPr>
            <a:spLocks noGrp="1"/>
          </p:cNvSpPr>
          <p:nvPr/>
        </p:nvSpPr>
        <p:spPr>
          <a:xfrm>
            <a:off x="8232267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  <p:txBody>
          <a:bodyPr/>
          <a:lstStyle/>
          <a:p>
            <a:endParaRPr lang="sv-SE"/>
          </a:p>
        </p:txBody>
      </p:sp>
      <p:sp>
        <p:nvSpPr>
          <p:cNvPr id="4" name="Slide-Number-Placeholder-1-4">
            <a:extLst>
              <a:ext uri="{FF2B5EF4-FFF2-40B4-BE49-F238E27FC236}">
                <a16:creationId xmlns:a16="http://schemas.microsoft.com/office/drawing/2014/main" id="{71A7FA07-FF00-48F7-9FFA-957C9AE1938C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5" name="Title-2-5">
            <a:extLst>
              <a:ext uri="{FF2B5EF4-FFF2-40B4-BE49-F238E27FC236}">
                <a16:creationId xmlns:a16="http://schemas.microsoft.com/office/drawing/2014/main" id="{2560A8E6-CC9E-4A02-BE4E-87A09D9B5630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is exercised in independent test layers</a:t>
            </a:r>
          </a:p>
        </p:txBody>
      </p:sp>
      <p:sp>
        <p:nvSpPr>
          <p:cNvPr id="6" name="Content-Placeholder-9-6">
            <a:extLst>
              <a:ext uri="{FF2B5EF4-FFF2-40B4-BE49-F238E27FC236}">
                <a16:creationId xmlns:a16="http://schemas.microsoft.com/office/drawing/2014/main" id="{8755AAF1-1B06-44BE-9617-C0D0B3EFA9B2}"/>
              </a:ext>
            </a:extLst>
          </p:cNvPr>
          <p:cNvSpPr>
            <a:spLocks noGrp="1"/>
          </p:cNvSpPr>
          <p:nvPr/>
        </p:nvSpPr>
        <p:spPr>
          <a:xfrm>
            <a:off x="702374" y="4900613"/>
            <a:ext cx="2949607" cy="81915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unit tests
73 files</a:t>
            </a:r>
          </a:p>
        </p:txBody>
      </p:sp>
      <p:sp>
        <p:nvSpPr>
          <p:cNvPr id="7" name="Content-Placeholder-10-7">
            <a:extLst>
              <a:ext uri="{FF2B5EF4-FFF2-40B4-BE49-F238E27FC236}">
                <a16:creationId xmlns:a16="http://schemas.microsoft.com/office/drawing/2014/main" id="{7A8796F1-1A57-4E6A-8A48-5D0AF2157588}"/>
              </a:ext>
            </a:extLst>
          </p:cNvPr>
          <p:cNvSpPr>
            <a:spLocks noGrp="1"/>
          </p:cNvSpPr>
          <p:nvPr/>
        </p:nvSpPr>
        <p:spPr>
          <a:xfrm>
            <a:off x="8541830" y="4900613"/>
            <a:ext cx="2949607" cy="81915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integration tests
10 files</a:t>
            </a:r>
          </a:p>
        </p:txBody>
      </p:sp>
      <p:sp>
        <p:nvSpPr>
          <p:cNvPr id="8" name="Content-Placeholder-11-8">
            <a:extLst>
              <a:ext uri="{FF2B5EF4-FFF2-40B4-BE49-F238E27FC236}">
                <a16:creationId xmlns:a16="http://schemas.microsoft.com/office/drawing/2014/main" id="{B69D096C-797C-4AEF-B0E4-1FBE3F857C64}"/>
              </a:ext>
            </a:extLst>
          </p:cNvPr>
          <p:cNvSpPr>
            <a:spLocks noGrp="1"/>
          </p:cNvSpPr>
          <p:nvPr/>
        </p:nvSpPr>
        <p:spPr>
          <a:xfrm>
            <a:off x="4621244" y="4900613"/>
            <a:ext cx="2949607" cy="81915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conformance tests
9 files</a:t>
            </a:r>
          </a:p>
        </p:txBody>
      </p:sp>
      <p:sp>
        <p:nvSpPr>
          <p:cNvPr id="9" name="Content-Placeholder-9-9">
            <a:extLst>
              <a:ext uri="{FF2B5EF4-FFF2-40B4-BE49-F238E27FC236}">
                <a16:creationId xmlns:a16="http://schemas.microsoft.com/office/drawing/2014/main" id="{14F87D60-9F93-4C44-A32A-0308A521DD98}"/>
              </a:ext>
            </a:extLst>
          </p:cNvPr>
          <p:cNvSpPr>
            <a:spLocks noGrp="1"/>
          </p:cNvSpPr>
          <p:nvPr/>
        </p:nvSpPr>
        <p:spPr>
          <a:xfrm>
            <a:off x="702374" y="3429000"/>
            <a:ext cx="2940082" cy="135931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603</a:t>
            </a:r>
          </a:p>
        </p:txBody>
      </p:sp>
      <p:sp>
        <p:nvSpPr>
          <p:cNvPr id="10" name="Content-Placeholder-9-10">
            <a:extLst>
              <a:ext uri="{FF2B5EF4-FFF2-40B4-BE49-F238E27FC236}">
                <a16:creationId xmlns:a16="http://schemas.microsoft.com/office/drawing/2014/main" id="{EEF7D13F-50ED-43C4-B24C-4ECFBAE1D2F0}"/>
              </a:ext>
            </a:extLst>
          </p:cNvPr>
          <p:cNvSpPr>
            <a:spLocks noGrp="1"/>
          </p:cNvSpPr>
          <p:nvPr/>
        </p:nvSpPr>
        <p:spPr>
          <a:xfrm>
            <a:off x="4612958" y="3429000"/>
            <a:ext cx="2940082" cy="135931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11" name="Content-Placeholder-9-11">
            <a:extLst>
              <a:ext uri="{FF2B5EF4-FFF2-40B4-BE49-F238E27FC236}">
                <a16:creationId xmlns:a16="http://schemas.microsoft.com/office/drawing/2014/main" id="{BFB77D9D-8398-4493-A054-643F9549CEC5}"/>
              </a:ext>
            </a:extLst>
          </p:cNvPr>
          <p:cNvSpPr>
            <a:spLocks noGrp="1"/>
          </p:cNvSpPr>
          <p:nvPr/>
        </p:nvSpPr>
        <p:spPr>
          <a:xfrm>
            <a:off x="8562404" y="3429000"/>
            <a:ext cx="2940082" cy="135931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56</a:t>
            </a:r>
          </a:p>
        </p:txBody>
      </p:sp>
      <p:sp>
        <p:nvSpPr>
          <p:cNvPr id="12" name="Content-Placeholder-15-12">
            <a:extLst>
              <a:ext uri="{FF2B5EF4-FFF2-40B4-BE49-F238E27FC236}">
                <a16:creationId xmlns:a16="http://schemas.microsoft.com/office/drawing/2014/main" id="{BF511B30-2EE2-4D30-8010-EB186375F109}"/>
              </a:ext>
            </a:extLst>
          </p:cNvPr>
          <p:cNvSpPr>
            <a:spLocks noGrp="1"/>
          </p:cNvSpPr>
          <p:nvPr/>
        </p:nvSpPr>
        <p:spPr>
          <a:xfrm>
            <a:off x="393668" y="1138333"/>
            <a:ext cx="11404568" cy="159943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Verification baseline · observed 2026-08-09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All default gates are offline and secret-free. In addition to the three counts below, 24 scenario tests in 5 files exercise end-to-end domain and quality flows.</a:t>
            </a:r>
          </a:p>
        </p:txBody>
      </p:sp>
    </p:spTree>
    <p:extLst>
      <p:ext uri="{BB962C8B-B14F-4D97-AF65-F5344CB8AC3E}">
        <p14:creationId xmlns:p14="http://schemas.microsoft.com/office/powerpoint/2010/main" val="1121222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-Shape-532-p58-2">
            <a:extLst>
              <a:ext uri="{FF2B5EF4-FFF2-40B4-BE49-F238E27FC236}">
                <a16:creationId xmlns:a16="http://schemas.microsoft.com/office/drawing/2014/main" id="{A1C7F647-3B8C-455B-A166-D67592A215E6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08F97A6C-7AA6-408C-99CC-98E2F4066FA1}"/>
              </a:ext>
            </a:extLst>
          </p:cNvPr>
          <p:cNvSpPr>
            <a:spLocks noGrp="1"/>
          </p:cNvSpPr>
          <p:nvPr/>
        </p:nvSpPr>
        <p:spPr>
          <a:xfrm>
            <a:off x="393668" y="344519"/>
            <a:ext cx="11404568" cy="644271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status: a proven prototype, not a production platform</a:t>
            </a:r>
          </a:p>
        </p:txBody>
      </p:sp>
      <p:sp>
        <p:nvSpPr>
          <p:cNvPr id="3" name="Rounded-Rectangle-1-4">
            <a:extLst>
              <a:ext uri="{FF2B5EF4-FFF2-40B4-BE49-F238E27FC236}">
                <a16:creationId xmlns:a16="http://schemas.microsoft.com/office/drawing/2014/main" id="{BC216536-D897-4739-A6C6-56276627CA48}"/>
              </a:ext>
            </a:extLst>
          </p:cNvPr>
          <p:cNvSpPr>
            <a:spLocks noGrp="1"/>
          </p:cNvSpPr>
          <p:nvPr/>
        </p:nvSpPr>
        <p:spPr>
          <a:xfrm>
            <a:off x="397002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  <p:txBody>
          <a:bodyPr/>
          <a:lstStyle/>
          <a:p>
            <a:endParaRPr lang="sv-SE"/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F60EF34C-3AE6-4801-A9BC-27A4A9EDAB70}"/>
              </a:ext>
            </a:extLst>
          </p:cNvPr>
          <p:cNvSpPr>
            <a:spLocks noGrp="1"/>
          </p:cNvSpPr>
          <p:nvPr/>
        </p:nvSpPr>
        <p:spPr>
          <a:xfrm>
            <a:off x="694277" y="3587972"/>
            <a:ext cx="4986909" cy="8778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DELIVERED</a:t>
            </a:r>
          </a:p>
        </p:txBody>
      </p:sp>
      <p:sp>
        <p:nvSpPr>
          <p:cNvPr id="5" name="Content-Placeholder-15-6">
            <a:extLst>
              <a:ext uri="{FF2B5EF4-FFF2-40B4-BE49-F238E27FC236}">
                <a16:creationId xmlns:a16="http://schemas.microsoft.com/office/drawing/2014/main" id="{B3B3DB1D-1916-41E5-8631-533AC4F018BB}"/>
              </a:ext>
            </a:extLst>
          </p:cNvPr>
          <p:cNvSpPr>
            <a:spLocks noGrp="1"/>
          </p:cNvSpPr>
          <p:nvPr/>
        </p:nvSpPr>
        <p:spPr>
          <a:xfrm>
            <a:off x="694277" y="4828604"/>
            <a:ext cx="5236655" cy="9779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Domain-neutral core + two domain proofs</a:t>
            </a:r>
          </a:p>
          <a:p>
            <a:pPr algn="l">
              <a:lnSpc>
                <a:spcPct val="108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Durable SQLite, replay, resume and outbox</a:t>
            </a:r>
          </a:p>
          <a:p>
            <a:pPr algn="l">
              <a:lnSpc>
                <a:spcPct val="108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CLI, local Test UI and quality evaluation</a:t>
            </a:r>
          </a:p>
        </p:txBody>
      </p:sp>
      <p:sp>
        <p:nvSpPr>
          <p:cNvPr id="6" name="Rounded-Rectangle-7-7">
            <a:extLst>
              <a:ext uri="{FF2B5EF4-FFF2-40B4-BE49-F238E27FC236}">
                <a16:creationId xmlns:a16="http://schemas.microsoft.com/office/drawing/2014/main" id="{C6633D1B-06B0-42E7-B8CD-C29EA53385C2}"/>
              </a:ext>
            </a:extLst>
          </p:cNvPr>
          <p:cNvSpPr>
            <a:spLocks noGrp="1"/>
          </p:cNvSpPr>
          <p:nvPr/>
        </p:nvSpPr>
        <p:spPr>
          <a:xfrm>
            <a:off x="6260783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  <p:txBody>
          <a:bodyPr/>
          <a:lstStyle/>
          <a:p>
            <a:endParaRPr lang="sv-SE"/>
          </a:p>
        </p:txBody>
      </p:sp>
      <p:sp>
        <p:nvSpPr>
          <p:cNvPr id="7" name="Content-Placeholder-10-8">
            <a:extLst>
              <a:ext uri="{FF2B5EF4-FFF2-40B4-BE49-F238E27FC236}">
                <a16:creationId xmlns:a16="http://schemas.microsoft.com/office/drawing/2014/main" id="{CE3F5E44-27E3-445A-8FF1-C6CF26C6AFA4}"/>
              </a:ext>
            </a:extLst>
          </p:cNvPr>
          <p:cNvSpPr>
            <a:spLocks noGrp="1"/>
          </p:cNvSpPr>
          <p:nvPr/>
        </p:nvSpPr>
        <p:spPr>
          <a:xfrm>
            <a:off x="6558058" y="3587972"/>
            <a:ext cx="4986909" cy="8778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NOT CLAIMED</a:t>
            </a:r>
          </a:p>
        </p:txBody>
      </p:sp>
      <p:sp>
        <p:nvSpPr>
          <p:cNvPr id="8" name="Content-Placeholder-15-9">
            <a:extLst>
              <a:ext uri="{FF2B5EF4-FFF2-40B4-BE49-F238E27FC236}">
                <a16:creationId xmlns:a16="http://schemas.microsoft.com/office/drawing/2014/main" id="{EF2A80FA-EE32-4963-88F2-D4336B0E9FE2}"/>
              </a:ext>
            </a:extLst>
          </p:cNvPr>
          <p:cNvSpPr>
            <a:spLocks noGrp="1"/>
          </p:cNvSpPr>
          <p:nvPr/>
        </p:nvSpPr>
        <p:spPr>
          <a:xfrm>
            <a:off x="6558058" y="4828604"/>
            <a:ext cx="5236655" cy="9779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No published package or deployment</a:t>
            </a:r>
          </a:p>
          <a:p>
            <a:pPr algn="l">
              <a:lnSpc>
                <a:spcPct val="108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No production hosting or database decision</a:t>
            </a:r>
          </a:p>
          <a:p>
            <a:pPr algn="l">
              <a:lnSpc>
                <a:spcPct val="108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Live provider path remains experimental and opt-in</a:t>
            </a:r>
          </a:p>
        </p:txBody>
      </p:sp>
      <p:sp>
        <p:nvSpPr>
          <p:cNvPr id="9" name="Content-Placeholder-15-10">
            <a:extLst>
              <a:ext uri="{FF2B5EF4-FFF2-40B4-BE49-F238E27FC236}">
                <a16:creationId xmlns:a16="http://schemas.microsoft.com/office/drawing/2014/main" id="{D0663CFC-E3EE-4041-A4E4-CCA5F9FC4C11}"/>
              </a:ext>
            </a:extLst>
          </p:cNvPr>
          <p:cNvSpPr>
            <a:spLocks noGrp="1"/>
          </p:cNvSpPr>
          <p:nvPr/>
        </p:nvSpPr>
        <p:spPr>
          <a:xfrm>
            <a:off x="400907" y="1157478"/>
            <a:ext cx="11404568" cy="1629251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As of 2026-08-09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Milestones 1 and 2 are delivered. The experimental live path, complete local S1–S10 workbench, pure S11 quality view, durable quality store and async job path are implemented.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600" b="0">
              <a:solidFill>
                <a:srgbClr val="5B647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4945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-Shape-532-p58-2">
            <a:extLst>
              <a:ext uri="{FF2B5EF4-FFF2-40B4-BE49-F238E27FC236}">
                <a16:creationId xmlns:a16="http://schemas.microsoft.com/office/drawing/2014/main" id="{A7093F3E-CA0A-4E14-A6D1-DB59CAF5DAB8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DE7FA627-2FC5-4A6F-A491-C7C643EA2EAB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remaining work is intentionally bounded</a:t>
            </a:r>
          </a:p>
        </p:txBody>
      </p:sp>
      <p:sp>
        <p:nvSpPr>
          <p:cNvPr id="3" name="Rounded-Rectangle-6-4">
            <a:extLst>
              <a:ext uri="{FF2B5EF4-FFF2-40B4-BE49-F238E27FC236}">
                <a16:creationId xmlns:a16="http://schemas.microsoft.com/office/drawing/2014/main" id="{9F7AAC97-5DC4-4963-A7F2-20781B005E12}"/>
              </a:ext>
            </a:extLst>
          </p:cNvPr>
          <p:cNvSpPr>
            <a:spLocks noGrp="1"/>
          </p:cNvSpPr>
          <p:nvPr/>
        </p:nvSpPr>
        <p:spPr>
          <a:xfrm>
            <a:off x="6264402" y="2369820"/>
            <a:ext cx="5533930" cy="1638300"/>
          </a:xfrm>
          <a:prstGeom prst="roundRect">
            <a:avLst>
              <a:gd name="adj" fmla="val 4651"/>
            </a:avLst>
          </a:prstGeom>
          <a:solidFill>
            <a:srgbClr val="F2F2F2"/>
          </a:solidFill>
        </p:spPr>
        <p:txBody>
          <a:bodyPr/>
          <a:lstStyle/>
          <a:p>
            <a:endParaRPr lang="sv-SE"/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A68D98F0-28D8-4C84-B0B2-6456D814522E}"/>
              </a:ext>
            </a:extLst>
          </p:cNvPr>
          <p:cNvSpPr>
            <a:spLocks noGrp="1"/>
          </p:cNvSpPr>
          <p:nvPr/>
        </p:nvSpPr>
        <p:spPr>
          <a:xfrm>
            <a:off x="6561677" y="2664809"/>
            <a:ext cx="4986909" cy="104841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UI residuals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Optional plan measurements, adapter declaration policy and browser CI smoke remain separate choices.</a:t>
            </a:r>
          </a:p>
        </p:txBody>
      </p:sp>
      <p:sp>
        <p:nvSpPr>
          <p:cNvPr id="5" name="Rounded-Rectangle-8-6">
            <a:extLst>
              <a:ext uri="{FF2B5EF4-FFF2-40B4-BE49-F238E27FC236}">
                <a16:creationId xmlns:a16="http://schemas.microsoft.com/office/drawing/2014/main" id="{94C0118A-2B2B-4E10-B8F9-DB19D43B632A}"/>
              </a:ext>
            </a:extLst>
          </p:cNvPr>
          <p:cNvSpPr>
            <a:spLocks noGrp="1"/>
          </p:cNvSpPr>
          <p:nvPr/>
        </p:nvSpPr>
        <p:spPr>
          <a:xfrm>
            <a:off x="409004" y="2369820"/>
            <a:ext cx="5533930" cy="1638300"/>
          </a:xfrm>
          <a:prstGeom prst="roundRect">
            <a:avLst>
              <a:gd name="adj" fmla="val 4651"/>
            </a:avLst>
          </a:prstGeom>
          <a:solidFill>
            <a:srgbClr val="F2F2F2"/>
          </a:solidFill>
        </p:spPr>
        <p:txBody>
          <a:bodyPr/>
          <a:lstStyle/>
          <a:p>
            <a:endParaRPr lang="sv-SE"/>
          </a:p>
        </p:txBody>
      </p:sp>
      <p:sp>
        <p:nvSpPr>
          <p:cNvPr id="6" name="Content-Placeholder-10-7">
            <a:extLst>
              <a:ext uri="{FF2B5EF4-FFF2-40B4-BE49-F238E27FC236}">
                <a16:creationId xmlns:a16="http://schemas.microsoft.com/office/drawing/2014/main" id="{B5EDA39B-191B-425E-8D37-B71866FED5C9}"/>
              </a:ext>
            </a:extLst>
          </p:cNvPr>
          <p:cNvSpPr>
            <a:spLocks noGrp="1"/>
          </p:cNvSpPr>
          <p:nvPr/>
        </p:nvSpPr>
        <p:spPr>
          <a:xfrm>
            <a:off x="706279" y="2664809"/>
            <a:ext cx="4986909" cy="104841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Finer trust evidence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Record the exact failing substage inside memory, projection and state preparation instead of reporting only ‘reached’.</a:t>
            </a:r>
          </a:p>
        </p:txBody>
      </p:sp>
      <p:sp>
        <p:nvSpPr>
          <p:cNvPr id="7" name="Rounded-Rectangle-1-8">
            <a:extLst>
              <a:ext uri="{FF2B5EF4-FFF2-40B4-BE49-F238E27FC236}">
                <a16:creationId xmlns:a16="http://schemas.microsoft.com/office/drawing/2014/main" id="{00AA2F89-58B0-42F5-AAC2-148758C756B5}"/>
              </a:ext>
            </a:extLst>
          </p:cNvPr>
          <p:cNvSpPr>
            <a:spLocks noGrp="1"/>
          </p:cNvSpPr>
          <p:nvPr/>
        </p:nvSpPr>
        <p:spPr>
          <a:xfrm>
            <a:off x="6264402" y="4370070"/>
            <a:ext cx="5533930" cy="1638300"/>
          </a:xfrm>
          <a:prstGeom prst="roundRect">
            <a:avLst>
              <a:gd name="adj" fmla="val 4651"/>
            </a:avLst>
          </a:prstGeom>
          <a:solidFill>
            <a:srgbClr val="F2F2F2"/>
          </a:solidFill>
        </p:spPr>
        <p:txBody>
          <a:bodyPr/>
          <a:lstStyle/>
          <a:p>
            <a:endParaRPr lang="sv-SE"/>
          </a:p>
        </p:txBody>
      </p:sp>
      <p:sp>
        <p:nvSpPr>
          <p:cNvPr id="8" name="Content-Placeholder-10-9">
            <a:extLst>
              <a:ext uri="{FF2B5EF4-FFF2-40B4-BE49-F238E27FC236}">
                <a16:creationId xmlns:a16="http://schemas.microsoft.com/office/drawing/2014/main" id="{305ADC43-3BA1-41FB-B8A0-F5BAC402FA8B}"/>
              </a:ext>
            </a:extLst>
          </p:cNvPr>
          <p:cNvSpPr>
            <a:spLocks noGrp="1"/>
          </p:cNvSpPr>
          <p:nvPr/>
        </p:nvSpPr>
        <p:spPr>
          <a:xfrm>
            <a:off x="6561677" y="4665059"/>
            <a:ext cx="4986909" cy="104841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Productization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Production hosting/database, dynamic discovery, vector retrieval and a workflow runtime beyond ScenarioRunner are not yet selected.</a:t>
            </a:r>
          </a:p>
        </p:txBody>
      </p:sp>
      <p:sp>
        <p:nvSpPr>
          <p:cNvPr id="9" name="Rounded-Rectangle-3-10">
            <a:extLst>
              <a:ext uri="{FF2B5EF4-FFF2-40B4-BE49-F238E27FC236}">
                <a16:creationId xmlns:a16="http://schemas.microsoft.com/office/drawing/2014/main" id="{D40A26E4-ACC3-4CF6-B278-874A70D95EB4}"/>
              </a:ext>
            </a:extLst>
          </p:cNvPr>
          <p:cNvSpPr>
            <a:spLocks noGrp="1"/>
          </p:cNvSpPr>
          <p:nvPr/>
        </p:nvSpPr>
        <p:spPr>
          <a:xfrm>
            <a:off x="409004" y="4370070"/>
            <a:ext cx="5533930" cy="1638300"/>
          </a:xfrm>
          <a:prstGeom prst="roundRect">
            <a:avLst>
              <a:gd name="adj" fmla="val 4651"/>
            </a:avLst>
          </a:prstGeom>
          <a:solidFill>
            <a:srgbClr val="F2F2F2"/>
          </a:solidFill>
        </p:spPr>
        <p:txBody>
          <a:bodyPr/>
          <a:lstStyle/>
          <a:p>
            <a:endParaRPr lang="sv-SE"/>
          </a:p>
        </p:txBody>
      </p:sp>
      <p:sp>
        <p:nvSpPr>
          <p:cNvPr id="10" name="Content-Placeholder-10-11">
            <a:extLst>
              <a:ext uri="{FF2B5EF4-FFF2-40B4-BE49-F238E27FC236}">
                <a16:creationId xmlns:a16="http://schemas.microsoft.com/office/drawing/2014/main" id="{6911F2F5-2718-47B1-ADDC-BCD45FC67B73}"/>
              </a:ext>
            </a:extLst>
          </p:cNvPr>
          <p:cNvSpPr>
            <a:spLocks noGrp="1"/>
          </p:cNvSpPr>
          <p:nvPr/>
        </p:nvSpPr>
        <p:spPr>
          <a:xfrm>
            <a:off x="706279" y="4665059"/>
            <a:ext cx="4986909" cy="104841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Provider + security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Ambiguous-call reconciliation, KMS/key rotation and privacy deletion are deferred behind evidence and ADRs.</a:t>
            </a:r>
          </a:p>
        </p:txBody>
      </p:sp>
      <p:sp>
        <p:nvSpPr>
          <p:cNvPr id="11" name="Content-Placeholder-15-12">
            <a:extLst>
              <a:ext uri="{FF2B5EF4-FFF2-40B4-BE49-F238E27FC236}">
                <a16:creationId xmlns:a16="http://schemas.microsoft.com/office/drawing/2014/main" id="{F8158C3F-3A28-43E9-9A69-20981631A5F8}"/>
              </a:ext>
            </a:extLst>
          </p:cNvPr>
          <p:cNvSpPr>
            <a:spLocks noGrp="1"/>
          </p:cNvSpPr>
          <p:nvPr/>
        </p:nvSpPr>
        <p:spPr>
          <a:xfrm>
            <a:off x="400907" y="1057466"/>
            <a:ext cx="11404568" cy="101222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 decisions, not hidden TODOs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Open items are inventoried as evidence gaps, interface residuals or deliberately deferred product choices. Each requires a new frozen charter before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531271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-3-1">
            <a:extLst>
              <a:ext uri="{FF2B5EF4-FFF2-40B4-BE49-F238E27FC236}">
                <a16:creationId xmlns:a16="http://schemas.microsoft.com/office/drawing/2014/main" id="{331C1E68-856B-4D4D-B191-BAA074553C65}"/>
              </a:ext>
            </a:extLst>
          </p:cNvPr>
          <p:cNvSpPr>
            <a:spLocks noGrp="1"/>
          </p:cNvSpPr>
          <p:nvPr/>
        </p:nvSpPr>
        <p:spPr>
          <a:xfrm>
            <a:off x="393668" y="1738789"/>
            <a:ext cx="9448800" cy="249145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ACME turns model behavior into inspectable system behavior.</a:t>
            </a:r>
          </a:p>
        </p:txBody>
      </p:sp>
      <p:sp>
        <p:nvSpPr>
          <p:cNvPr id="2" name="Subtitle-4-2">
            <a:extLst>
              <a:ext uri="{FF2B5EF4-FFF2-40B4-BE49-F238E27FC236}">
                <a16:creationId xmlns:a16="http://schemas.microsoft.com/office/drawing/2014/main" id="{2189707D-FA1E-45DA-B7F2-8A67ED4675BC}"/>
              </a:ext>
            </a:extLst>
          </p:cNvPr>
          <p:cNvSpPr>
            <a:spLocks noGrp="1"/>
          </p:cNvSpPr>
          <p:nvPr/>
        </p:nvSpPr>
        <p:spPr>
          <a:xfrm>
            <a:off x="393668" y="4973288"/>
            <a:ext cx="3568732" cy="108023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Translate domain rules into typed contracts and policies.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Integrate providers and persistence behind testable ports.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Prove failure modes before scaling the surface.
github.com/zackemannen81/acme-engine</a:t>
            </a:r>
          </a:p>
        </p:txBody>
      </p:sp>
      <p:sp>
        <p:nvSpPr>
          <p:cNvPr id="3" name="Subtitle-4-3">
            <a:extLst>
              <a:ext uri="{FF2B5EF4-FFF2-40B4-BE49-F238E27FC236}">
                <a16:creationId xmlns:a16="http://schemas.microsoft.com/office/drawing/2014/main" id="{62CC2732-D5A4-4320-BC3F-5F05B1BC08A3}"/>
              </a:ext>
            </a:extLst>
          </p:cNvPr>
          <p:cNvSpPr>
            <a:spLocks noGrp="1"/>
          </p:cNvSpPr>
          <p:nvPr/>
        </p:nvSpPr>
        <p:spPr>
          <a:xfrm>
            <a:off x="393668" y="392240"/>
            <a:ext cx="1612868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FIELD DEPLOYMENT TAKEAWAY</a:t>
            </a:r>
          </a:p>
        </p:txBody>
      </p:sp>
      <p:sp>
        <p:nvSpPr>
          <p:cNvPr id="4" name="repository-link">
            <a:extLst>
              <a:ext uri="{FF2B5EF4-FFF2-40B4-BE49-F238E27FC236}">
                <a16:creationId xmlns:a16="http://schemas.microsoft.com/office/drawing/2014/main" id="{8ED3FB0E-15D2-4E0C-92EB-A21916EF40D6}"/>
              </a:ext>
            </a:extLst>
          </p:cNvPr>
          <p:cNvSpPr>
            <a:spLocks noGrp="1"/>
          </p:cNvSpPr>
          <p:nvPr/>
        </p:nvSpPr>
        <p:spPr>
          <a:xfrm>
            <a:off x="7239000" y="596265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github.com/zackemannen81/acme-engine</a:t>
            </a:r>
          </a:p>
        </p:txBody>
      </p:sp>
    </p:spTree>
    <p:extLst>
      <p:ext uri="{BB962C8B-B14F-4D97-AF65-F5344CB8AC3E}">
        <p14:creationId xmlns:p14="http://schemas.microsoft.com/office/powerpoint/2010/main" val="16437425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2237</Words>
  <Application>Microsoft Office PowerPoint</Application>
  <DocSecurity>0</DocSecurity>
  <PresentationFormat>Bredbild</PresentationFormat>
  <Paragraphs>261</Paragraphs>
  <Slides>15</Slides>
  <Notes>15</Notes>
  <HiddenSlides>0</HiddenSlides>
  <MMClips>0</MMClips>
  <ScaleCrop>false</ScaleCrop>
  <HeadingPairs>
    <vt:vector size="6" baseType="variant">
      <vt:variant>
        <vt:lpstr>Använt teckensnitt</vt:lpstr>
      </vt:variant>
      <vt:variant>
        <vt:i4>2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15</vt:i4>
      </vt:variant>
    </vt:vector>
  </HeadingPairs>
  <TitlesOfParts>
    <vt:vector size="18" baseType="lpstr">
      <vt:lpstr>Arial</vt:lpstr>
      <vt:lpstr>Calibri</vt:lpstr>
      <vt:lpstr>ChatGPT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— Adaptive Context Memory Engine</dc:title>
  <dc:creator>Rickard Zakrisson</dc:creator>
  <cp:lastModifiedBy>Rickard Zakrisson</cp:lastModifiedBy>
  <cp:revision>1</cp:revision>
  <dcterms:created xsi:type="dcterms:W3CDTF">2026-08-09T15:34:30Z</dcterms:created>
  <dcterms:modified xsi:type="dcterms:W3CDTF">2026-08-09T16:41:08Z</dcterms:modified>
</cp:coreProperties>
</file>