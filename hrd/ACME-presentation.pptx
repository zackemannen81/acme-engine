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6b19cf7fd47fc" /><Relationship Type="http://schemas.openxmlformats.org/officeDocument/2006/relationships/extended-properties" Target="/docProps/app.xml" Id="R024e70780d204028" /><Relationship Type="http://schemas.openxmlformats.org/officeDocument/2006/relationships/officeDocument" Target="/ppt/presentation.xml" Id="R06b4ce748b104a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a41ca6c12840fd"/>
  </p:sldMasterIdLst>
  <p:notesMasterIdLst>
    <p:notesMasterId xmlns:r="http://schemas.openxmlformats.org/officeDocument/2006/relationships" r:id="R3a7398b09de74b52"/>
  </p:notesMasterIdLst>
  <p:sldIdLst>
    <p:sldId xmlns:r="http://schemas.openxmlformats.org/officeDocument/2006/relationships" id="256" r:id="R8d609602edfe4b18"/>
    <p:sldId xmlns:r="http://schemas.openxmlformats.org/officeDocument/2006/relationships" id="257" r:id="R96a839ef2301445a"/>
    <p:sldId xmlns:r="http://schemas.openxmlformats.org/officeDocument/2006/relationships" id="258" r:id="R09ebc696203a4216"/>
    <p:sldId xmlns:r="http://schemas.openxmlformats.org/officeDocument/2006/relationships" id="259" r:id="R510bf6c8384d4ef6"/>
    <p:sldId xmlns:r="http://schemas.openxmlformats.org/officeDocument/2006/relationships" id="260" r:id="Re62a40db1bb7478c"/>
    <p:sldId xmlns:r="http://schemas.openxmlformats.org/officeDocument/2006/relationships" id="261" r:id="R02f7619eef23470a"/>
    <p:sldId xmlns:r="http://schemas.openxmlformats.org/officeDocument/2006/relationships" id="262" r:id="R2abaa077663642af"/>
    <p:sldId xmlns:r="http://schemas.openxmlformats.org/officeDocument/2006/relationships" id="263" r:id="Ra9a80a9e50064c2b"/>
    <p:sldId xmlns:r="http://schemas.openxmlformats.org/officeDocument/2006/relationships" id="264" r:id="R9d44ff42729146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73fb3fa3ed4d40" /><Relationship Type="http://schemas.openxmlformats.org/officeDocument/2006/relationships/slideMaster" Target="/ppt/slideMasters/slideMaster1.xml" Id="R6aa41ca6c12840fd" /><Relationship Type="http://schemas.openxmlformats.org/officeDocument/2006/relationships/notesMaster" Target="/ppt/notesMasters/notesMaster1.xml" Id="R3a7398b09de74b52" /><Relationship Type="http://schemas.openxmlformats.org/officeDocument/2006/relationships/presProps" Target="/ppt/presProps.xml" Id="R6e0691c71b74480c" /><Relationship Type="http://schemas.openxmlformats.org/officeDocument/2006/relationships/tableStyles" Target="/ppt/tableStyles.xml" Id="Rab80630e1f384f36" /><Relationship Type="http://schemas.openxmlformats.org/officeDocument/2006/relationships/slide" Target="/ppt/slides/slide1.xml" Id="R8d609602edfe4b18" /><Relationship Type="http://schemas.openxmlformats.org/officeDocument/2006/relationships/slide" Target="/ppt/slides/slide2.xml" Id="R96a839ef2301445a" /><Relationship Type="http://schemas.openxmlformats.org/officeDocument/2006/relationships/slide" Target="/ppt/slides/slide3.xml" Id="R09ebc696203a4216" /><Relationship Type="http://schemas.openxmlformats.org/officeDocument/2006/relationships/slide" Target="/ppt/slides/slide4.xml" Id="R510bf6c8384d4ef6" /><Relationship Type="http://schemas.openxmlformats.org/officeDocument/2006/relationships/slide" Target="/ppt/slides/slide5.xml" Id="Re62a40db1bb7478c" /><Relationship Type="http://schemas.openxmlformats.org/officeDocument/2006/relationships/slide" Target="/ppt/slides/slide6.xml" Id="R02f7619eef23470a" /><Relationship Type="http://schemas.openxmlformats.org/officeDocument/2006/relationships/slide" Target="/ppt/slides/slide7.xml" Id="R2abaa077663642af" /><Relationship Type="http://schemas.openxmlformats.org/officeDocument/2006/relationships/slide" Target="/ppt/slides/slide8.xml" Id="Ra9a80a9e50064c2b" /><Relationship Type="http://schemas.openxmlformats.org/officeDocument/2006/relationships/slide" Target="/ppt/slides/slide9.xml" Id="R9d44ff42729146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cf400d76aa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049c18886141f0" /><Relationship Type="http://schemas.openxmlformats.org/officeDocument/2006/relationships/notesMaster" Target="/ppt/notesMasters/notesMaster1.xml" Id="R4f79296199b6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08648cbee74fa5" /><Relationship Type="http://schemas.openxmlformats.org/officeDocument/2006/relationships/notesMaster" Target="/ppt/notesMasters/notesMaster1.xml" Id="Rce5a48031473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a91992b7714517" /><Relationship Type="http://schemas.openxmlformats.org/officeDocument/2006/relationships/notesMaster" Target="/ppt/notesMasters/notesMaster1.xml" Id="R04d29504dacb4f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913f5d878249d9" /><Relationship Type="http://schemas.openxmlformats.org/officeDocument/2006/relationships/notesMaster" Target="/ppt/notesMasters/notesMaster1.xml" Id="R2027f50cbb9f48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b791ffd09a4ed1" /><Relationship Type="http://schemas.openxmlformats.org/officeDocument/2006/relationships/notesMaster" Target="/ppt/notesMasters/notesMaster1.xml" Id="R8a642fee39db4a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87ab2a4dc64059" /><Relationship Type="http://schemas.openxmlformats.org/officeDocument/2006/relationships/notesMaster" Target="/ppt/notesMasters/notesMaster1.xml" Id="R623b84e6fca340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e79f91c418491a" /><Relationship Type="http://schemas.openxmlformats.org/officeDocument/2006/relationships/notesMaster" Target="/ppt/notesMasters/notesMaster1.xml" Id="Rc1294f07d54749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e9ec1d80c644be" /><Relationship Type="http://schemas.openxmlformats.org/officeDocument/2006/relationships/notesMaster" Target="/ppt/notesMasters/notesMaster1.xml" Id="Rac5a1abcd4be4d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28c5fc45eb4c11" /><Relationship Type="http://schemas.openxmlformats.org/officeDocument/2006/relationships/notesMaster" Target="/ppt/notesMasters/notesMaster1.xml" Id="R7181dc4903c54f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C:/code/acme-claude/docs/PROJECT_BRIEF.md — project purpose and success criteria.</a:t>
            </a:r>
          </a:p>
          <a:p xmlns:a="http://schemas.openxmlformats.org/drawingml/2006/main">
            <a:r>
              <a:t>- C:/code/acme-claude/docs/CURRENT_STATUS.md — implemented capability as of 2026-08-06.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C:/code/acme-claude/AGENTS.md — fixed architecture guardrails.</a:t>
            </a:r>
          </a:p>
          <a:p xmlns:a="http://schemas.openxmlformats.org/drawingml/2006/main">
            <a:r>
              <a:t>- C:/code/acme-claude/docs/SYSTEMDOC.md — response pipeline, StateEngine and MemoryEngine behavior.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C:/code/acme-claude/AGENTS.md — dependency direction and forbidden edges.</a:t>
            </a:r>
          </a:p>
          <a:p xmlns:a="http://schemas.openxmlformats.org/drawingml/2006/main">
            <a:r>
              <a:t>- C:/code/acme-claude/dependency-cruiser.config.mjs — enforced package rules.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C:/code/acme-claude/docs/design/acme-design-and-development-spec.md — execution protocol and replay semantics.</a:t>
            </a:r>
          </a:p>
          <a:p xmlns:a="http://schemas.openxmlformats.org/drawingml/2006/main">
            <a:r>
              <a:t>- C:/code/acme-claude/docs/adr/0012-milestone-1-execution-identity-and-replay.md — identity and replay decision.</a:t>
            </a:r>
          </a:p>
          <a:p xmlns:a="http://schemas.openxmlformats.org/drawingml/2006/main">
            <a:r>
              <a:t>- C:/code/acme-claude/docs/adr/0017-durable-execution-resume.md — resume without a second provider call.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C:/code/acme-claude/docs/CURRENT_STATUS.md — Narrative and Research acceptance flows.</a:t>
            </a:r>
          </a:p>
          <a:p xmlns:a="http://schemas.openxmlformats.org/drawingml/2006/main">
            <a:r>
              <a:t>- C:/code/acme-claude/packages/module-narrative/src/module.ts — Narrative module definition.</a:t>
            </a:r>
          </a:p>
          <a:p xmlns:a="http://schemas.openxmlformats.org/drawingml/2006/main">
            <a:r>
              <a:t>- C:/code/acme-claude/packages/module-research/src/module.ts — Research module definition.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C:/code/acme-claude/docs/SYSTEMDOC.md — execution evidence, retention and replay read-set.</a:t>
            </a:r>
          </a:p>
          <a:p xmlns:a="http://schemas.openxmlformats.org/drawingml/2006/main">
            <a:r>
              <a:t>- C:/code/acme-claude/docs/adr/0016-encrypted-payload-retention.md — retention modes.</a:t>
            </a:r>
          </a:p>
          <a:p xmlns:a="http://schemas.openxmlformats.org/drawingml/2006/main">
            <a:r>
              <a:t>- C:/code/acme-claude/docs/adr/0018-outbox-delivery-boundary.md — candidate events and commit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C:/code/acme-claude/docs/adr/0025-post-execution-quality-evaluation.md — separation and evaluator kinds.</a:t>
            </a:r>
          </a:p>
          <a:p xmlns:a="http://schemas.openxmlformats.org/drawingml/2006/main">
            <a:r>
              <a:t>- C:/code/acme-claude/docs/SYSTEMDOC.md — implemented post-execution quality evaluation.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C:/code/acme-claude/docs/CURRENT_STATUS.md — exact verified counts.</a:t>
            </a:r>
          </a:p>
          <a:p xmlns:a="http://schemas.openxmlformats.org/drawingml/2006/main">
            <a:r>
              <a:t>- C:/code/acme-claude/docs/finished/ACME-0054_quality-evaluation-harness.md — recorded verification gates.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C:/code/acme-claude/docs/CURRENT_STATUS.md — persistent gaps and delivered foundation.</a:t>
            </a:r>
          </a:p>
          <a:p xmlns:a="http://schemas.openxmlformats.org/drawingml/2006/main">
            <a:r>
              <a:t>- C:/code/acme-claude/docs/PROJECT_BRIEF.md — no outstanding deliverable against the approved brief.</a:t>
            </a:r>
          </a:p>
          <a:p xmlns:a="http://schemas.openxmlformats.org/drawingml/2006/main">
            <a:r>
              <a:t>- C:/code/acme-claude/docs/backlog/driver-error-classification.md — independent adapter-hardening proposal.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a548e2a4349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8756a232c444a6" /><Relationship Type="http://schemas.openxmlformats.org/officeDocument/2006/relationships/slideLayout" Target="/ppt/slideLayouts/slideLayout1.xml" Id="Raf39099b38a1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39099b38a1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1058bd99542bb" /><Relationship Type="http://schemas.openxmlformats.org/officeDocument/2006/relationships/notesSlide" Target="/ppt/notesSlides/notesSlide1.xml" Id="R0ff9c93c3d504b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aa54e8b6a407c" /><Relationship Type="http://schemas.openxmlformats.org/officeDocument/2006/relationships/notesSlide" Target="/ppt/notesSlides/notesSlide2.xml" Id="R14c028c06813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dc4aeb0b345e7" /><Relationship Type="http://schemas.openxmlformats.org/officeDocument/2006/relationships/notesSlide" Target="/ppt/notesSlides/notesSlide3.xml" Id="R2fb3206f8d0d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a69a927d94d2a" /><Relationship Type="http://schemas.openxmlformats.org/officeDocument/2006/relationships/notesSlide" Target="/ppt/notesSlides/notesSlide4.xml" Id="R27a11ebf9c9842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2754b5b084263" /><Relationship Type="http://schemas.openxmlformats.org/officeDocument/2006/relationships/notesSlide" Target="/ppt/notesSlides/notesSlide5.xml" Id="R7bd7ca57258d46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0531577474792" /><Relationship Type="http://schemas.openxmlformats.org/officeDocument/2006/relationships/notesSlide" Target="/ppt/notesSlides/notesSlide6.xml" Id="Ra9e2492d59fd44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24a4fc1fa4bb8" /><Relationship Type="http://schemas.openxmlformats.org/officeDocument/2006/relationships/notesSlide" Target="/ppt/notesSlides/notesSlide7.xml" Id="R3dd3bbf1622842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d3b4793d4b8a" /><Relationship Type="http://schemas.openxmlformats.org/officeDocument/2006/relationships/notesSlide" Target="/ppt/notesSlides/notesSlide8.xml" Id="Read3ff915c3342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0a2e378e84abd" /><Relationship Type="http://schemas.openxmlformats.org/officeDocument/2006/relationships/notesSlide" Target="/ppt/notesSlides/notesSlide9.xml" Id="Rc9055a5d1159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1E48D9E-2294-4EB7-8E59-BD7FF5CC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ADAPTIVE CONTEXT MEMORY ENGINE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A26F623-7E3C-409A-9847-E523FFF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ACME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27B38B8-FBB4-4CF7-B934-1C18668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 domänneutral och replaybar</a:t>
            </a:r>
          </a:p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exekveringsmotor för AI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789BA03F-8247-41F6-946E-9E1E6E5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Systemöversikt · verifierad mot repository 2026-08-06</a:t>
            </a:r>
          </a:p>
        </p:txBody>
      </p:sp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C62BE9D-9F56-4103-9BB6-AF8B9435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8112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">
            <a:extLst xmlns:a="http://schemas.openxmlformats.org/drawingml/2006/main">
              <a:ext uri="{FF2B5EF4-FFF2-40B4-BE49-F238E27FC236}">
                <a16:creationId xmlns:a16="http://schemas.microsoft.com/office/drawing/2014/main" id="{264648D5-8E32-422D-A368-74CB1B1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Modelloutput är en kandidat — aldrig kanoniskt tillstånd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C21C16E3-FEB3-4119-AA85-C24DE39B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38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claim">
            <a:extLst xmlns:a="http://schemas.openxmlformats.org/drawingml/2006/main">
              <a:ext uri="{FF2B5EF4-FFF2-40B4-BE49-F238E27FC236}">
                <a16:creationId xmlns:a16="http://schemas.microsoft.com/office/drawing/2014/main" id="{C1C2DFB1-B539-4CEC-A922-89A99982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ACME gör en probabilistisk modell användbar genom att lägga deterministiska kontrakt, policy och evidens runt varje körning.</a:t>
            </a:r>
          </a:p>
        </p:txBody>
      </p:sp>
      <p:sp>
        <p:nvSpPr>
          <p:cNvPr id="4" name="rule-Validera">
            <a:extLst xmlns:a="http://schemas.openxmlformats.org/drawingml/2006/main">
              <a:ext uri="{FF2B5EF4-FFF2-40B4-BE49-F238E27FC236}">
                <a16:creationId xmlns:a16="http://schemas.microsoft.com/office/drawing/2014/main" id="{5E5EC089-7F1F-4757-B98B-2CCD9D17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90875"/>
            <a:ext cx="4238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abel-812-349">
            <a:extLst xmlns:a="http://schemas.openxmlformats.org/drawingml/2006/main">
              <a:ext uri="{FF2B5EF4-FFF2-40B4-BE49-F238E27FC236}">
                <a16:creationId xmlns:a16="http://schemas.microsoft.com/office/drawing/2014/main" id="{E8184187-E7E5-44A4-AF42-3E3D501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242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Validera</a:t>
            </a:r>
          </a:p>
        </p:txBody>
      </p:sp>
      <p:sp>
        <p:nvSpPr>
          <p:cNvPr id="6" name="body-Validera">
            <a:extLst xmlns:a="http://schemas.openxmlformats.org/drawingml/2006/main">
              <a:ext uri="{FF2B5EF4-FFF2-40B4-BE49-F238E27FC236}">
                <a16:creationId xmlns:a16="http://schemas.microsoft.com/office/drawing/2014/main" id="{3BFD0307-0064-4283-A04A-1539237D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Schema och semantik måste passera innan domänlogik får tolka svaret.</a:t>
            </a:r>
          </a:p>
        </p:txBody>
      </p:sp>
      <p:sp>
        <p:nvSpPr>
          <p:cNvPr id="7" name="rule-Besluta">
            <a:extLst xmlns:a="http://schemas.openxmlformats.org/drawingml/2006/main">
              <a:ext uri="{FF2B5EF4-FFF2-40B4-BE49-F238E27FC236}">
                <a16:creationId xmlns:a16="http://schemas.microsoft.com/office/drawing/2014/main" id="{ED8D5C66-3726-4DB8-A569-00E26DA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43375"/>
            <a:ext cx="4238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abel-812-449">
            <a:extLst xmlns:a="http://schemas.openxmlformats.org/drawingml/2006/main">
              <a:ext uri="{FF2B5EF4-FFF2-40B4-BE49-F238E27FC236}">
                <a16:creationId xmlns:a16="http://schemas.microsoft.com/office/drawing/2014/main" id="{78A7F176-DE43-42DF-BD34-941637AA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767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Besluta</a:t>
            </a:r>
          </a:p>
        </p:txBody>
      </p:sp>
      <p:sp>
        <p:nvSpPr>
          <p:cNvPr id="9" name="body-Besluta">
            <a:extLst xmlns:a="http://schemas.openxmlformats.org/drawingml/2006/main">
              <a:ext uri="{FF2B5EF4-FFF2-40B4-BE49-F238E27FC236}">
                <a16:creationId xmlns:a16="http://schemas.microsoft.com/office/drawing/2014/main" id="{5C6AEACC-886E-40E6-8988-D5D34189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Minnespolicy, reducer och invariants ägs av domänen — inte av modellen.</a:t>
            </a:r>
          </a:p>
        </p:txBody>
      </p:sp>
      <p:sp>
        <p:nvSpPr>
          <p:cNvPr id="10" name="rule-Bevisa">
            <a:extLst xmlns:a="http://schemas.openxmlformats.org/drawingml/2006/main">
              <a:ext uri="{FF2B5EF4-FFF2-40B4-BE49-F238E27FC236}">
                <a16:creationId xmlns:a16="http://schemas.microsoft.com/office/drawing/2014/main" id="{0CB49CAF-9F4E-42EB-A5CF-2578632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95875"/>
            <a:ext cx="4238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label-812-549">
            <a:extLst xmlns:a="http://schemas.openxmlformats.org/drawingml/2006/main">
              <a:ext uri="{FF2B5EF4-FFF2-40B4-BE49-F238E27FC236}">
                <a16:creationId xmlns:a16="http://schemas.microsoft.com/office/drawing/2014/main" id="{EBA5E861-0CD9-430D-A10A-0B1CAC22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292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Bevisa</a:t>
            </a:r>
          </a:p>
        </p:txBody>
      </p:sp>
      <p:sp>
        <p:nvSpPr>
          <p:cNvPr id="12" name="body-Bevisa">
            <a:extLst xmlns:a="http://schemas.openxmlformats.org/drawingml/2006/main">
              <a:ext uri="{FF2B5EF4-FFF2-40B4-BE49-F238E27FC236}">
                <a16:creationId xmlns:a16="http://schemas.microsoft.com/office/drawing/2014/main" id="{F5DA932A-3981-4228-B4B6-964B2422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91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Identitet, calls, beslut, commit och replay binds till en spårbar körning.</a:t>
            </a:r>
          </a:p>
        </p:txBody>
      </p:sp>
    </p:spTree>
    <p:extLst>
      <p:ext uri="{BB962C8B-B14F-4D97-AF65-F5344CB8AC3E}">
        <p14:creationId xmlns:p14="http://schemas.microsoft.com/office/powerpoint/2010/main" val="7943211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3">
            <a:extLst xmlns:a="http://schemas.openxmlformats.org/drawingml/2006/main">
              <a:ext uri="{FF2B5EF4-FFF2-40B4-BE49-F238E27FC236}">
                <a16:creationId xmlns:a16="http://schemas.microsoft.com/office/drawing/2014/main" id="{DA1A0907-961E-4221-844C-5176946B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Beroenderiktningen håller kärnan fri från domän, provider och databas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357356AF-FA9A-494C-A5A0-22607B0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38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9" name="apps-to-adapters"/>
          <p:cNvCxnSpPr/>
          <p:nvPr/>
        </p:nvCxnSpPr>
        <p:spPr>
          <a:xfrm xmlns:a="http://schemas.openxmlformats.org/drawingml/2006/main">
            <a:off x="2667000" y="2238375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0" name="adapters-to-modules"/>
          <p:cNvCxnSpPr/>
          <p:nvPr/>
        </p:nvCxnSpPr>
        <p:spPr>
          <a:xfrm xmlns:a="http://schemas.openxmlformats.org/drawingml/2006/main">
            <a:off x="2667000" y="3552825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1" name="modules-to-core"/>
          <p:cNvCxnSpPr/>
          <p:nvPr/>
        </p:nvCxnSpPr>
        <p:spPr>
          <a:xfrm xmlns:a="http://schemas.openxmlformats.org/drawingml/2006/main">
            <a:off x="2667000" y="4867275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layer-APPS / COMPOSITION">
            <a:extLst xmlns:a="http://schemas.openxmlformats.org/drawingml/2006/main">
              <a:ext uri="{FF2B5EF4-FFF2-40B4-BE49-F238E27FC236}">
                <a16:creationId xmlns:a16="http://schemas.microsoft.com/office/drawing/2014/main" id="{F305AD2E-0BA5-40A6-BA14-B31FC765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905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label-110-180">
            <a:extLst xmlns:a="http://schemas.openxmlformats.org/drawingml/2006/main">
              <a:ext uri="{FF2B5EF4-FFF2-40B4-BE49-F238E27FC236}">
                <a16:creationId xmlns:a16="http://schemas.microsoft.com/office/drawing/2014/main" id="{DC158463-2377-4138-A4B9-696CA054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APPS / COMPOSITION</a:t>
            </a:r>
          </a:p>
        </p:txBody>
      </p:sp>
      <p:sp>
        <p:nvSpPr>
          <p:cNvPr id="8" name="layer-body-APPS / COMPOSITION">
            <a:extLst xmlns:a="http://schemas.openxmlformats.org/drawingml/2006/main">
              <a:ext uri="{FF2B5EF4-FFF2-40B4-BE49-F238E27FC236}">
                <a16:creationId xmlns:a16="http://schemas.microsoft.com/office/drawing/2014/main" id="{D37A3299-8AB0-457C-BAA0-0134CB0E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CLI och Test UI väljer konkreta implementationer.</a:t>
            </a:r>
          </a:p>
        </p:txBody>
      </p:sp>
      <p:sp>
        <p:nvSpPr>
          <p:cNvPr id="9" name="layer-ADAPTERS">
            <a:extLst xmlns:a="http://schemas.openxmlformats.org/drawingml/2006/main">
              <a:ext uri="{FF2B5EF4-FFF2-40B4-BE49-F238E27FC236}">
                <a16:creationId xmlns:a16="http://schemas.microsoft.com/office/drawing/2014/main" id="{C34D6D17-32A7-4E1A-83D1-51E8DE2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3905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abel-110-318">
            <a:extLst xmlns:a="http://schemas.openxmlformats.org/drawingml/2006/main">
              <a:ext uri="{FF2B5EF4-FFF2-40B4-BE49-F238E27FC236}">
                <a16:creationId xmlns:a16="http://schemas.microsoft.com/office/drawing/2014/main" id="{323B32FB-0F68-48A2-9212-5CCC379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ADAPTERS</a:t>
            </a:r>
          </a:p>
        </p:txBody>
      </p:sp>
      <p:sp>
        <p:nvSpPr>
          <p:cNvPr id="11" name="layer-body-ADAPTERS">
            <a:extLst xmlns:a="http://schemas.openxmlformats.org/drawingml/2006/main">
              <a:ext uri="{FF2B5EF4-FFF2-40B4-BE49-F238E27FC236}">
                <a16:creationId xmlns:a16="http://schemas.microsoft.com/office/drawing/2014/main" id="{58C7CB03-3315-4AEF-8ADE-3A9954A4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Memory, SQLite, mock och OpenAI ligger bakom portar.</a:t>
            </a:r>
          </a:p>
        </p:txBody>
      </p:sp>
      <p:sp>
        <p:nvSpPr>
          <p:cNvPr id="12" name="layer-MODULES">
            <a:extLst xmlns:a="http://schemas.openxmlformats.org/drawingml/2006/main">
              <a:ext uri="{FF2B5EF4-FFF2-40B4-BE49-F238E27FC236}">
                <a16:creationId xmlns:a16="http://schemas.microsoft.com/office/drawing/2014/main" id="{267F4A85-16C2-4F1F-B39C-6D5F3160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3905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label-110-456">
            <a:extLst xmlns:a="http://schemas.openxmlformats.org/drawingml/2006/main">
              <a:ext uri="{FF2B5EF4-FFF2-40B4-BE49-F238E27FC236}">
                <a16:creationId xmlns:a16="http://schemas.microsoft.com/office/drawing/2014/main" id="{7A6BA8F1-7C11-4E33-B62D-F5DD141D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14" name="layer-body-MODULES">
            <a:extLst xmlns:a="http://schemas.openxmlformats.org/drawingml/2006/main">
              <a:ext uri="{FF2B5EF4-FFF2-40B4-BE49-F238E27FC236}">
                <a16:creationId xmlns:a16="http://schemas.microsoft.com/office/drawing/2014/main" id="{C862FFEF-15C1-4547-90AF-93C6552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Narrative och Research äger domänens betydelse.</a:t>
            </a:r>
          </a:p>
        </p:txBody>
      </p:sp>
      <p:sp>
        <p:nvSpPr>
          <p:cNvPr id="15" name="layer-CORE">
            <a:extLst xmlns:a="http://schemas.openxmlformats.org/drawingml/2006/main">
              <a:ext uri="{FF2B5EF4-FFF2-40B4-BE49-F238E27FC236}">
                <a16:creationId xmlns:a16="http://schemas.microsoft.com/office/drawing/2014/main" id="{C6959553-B6CA-4416-944C-FB7CA677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905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label-110-594">
            <a:extLst xmlns:a="http://schemas.openxmlformats.org/drawingml/2006/main">
              <a:ext uri="{FF2B5EF4-FFF2-40B4-BE49-F238E27FC236}">
                <a16:creationId xmlns:a16="http://schemas.microsoft.com/office/drawing/2014/main" id="{2E2B86EE-6FD3-4514-B726-7694D5D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7" name="layer-body-CORE">
            <a:extLst xmlns:a="http://schemas.openxmlformats.org/drawingml/2006/main">
              <a:ext uri="{FF2B5EF4-FFF2-40B4-BE49-F238E27FC236}">
                <a16:creationId xmlns:a16="http://schemas.microsoft.com/office/drawing/2014/main" id="{211EBDF1-C819-48E3-A52B-EE40D9D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62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Kontrakt, identitet, engines och exekveringsprotokoll.</a:t>
            </a:r>
          </a:p>
        </p:txBody>
      </p:sp>
      <p:sp>
        <p:nvSpPr>
          <p:cNvPr id="18" name="forbidden-title">
            <a:extLst xmlns:a="http://schemas.openxmlformats.org/drawingml/2006/main">
              <a:ext uri="{FF2B5EF4-FFF2-40B4-BE49-F238E27FC236}">
                <a16:creationId xmlns:a16="http://schemas.microsoft.com/office/drawing/2014/main" id="{300B54ED-D1FE-4D2C-A162-2C0942D3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Förbjudna genvägar</a:t>
            </a:r>
          </a:p>
        </p:txBody>
      </p:sp>
      <p:sp>
        <p:nvSpPr>
          <p:cNvPr id="19" name="forbidden-0">
            <a:extLst xmlns:a="http://schemas.openxmlformats.org/drawingml/2006/main">
              <a:ext uri="{FF2B5EF4-FFF2-40B4-BE49-F238E27FC236}">
                <a16:creationId xmlns:a16="http://schemas.microsoft.com/office/drawing/2014/main" id="{0B725495-1AFA-487F-996A-B744A96A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forbidden-text-0">
            <a:extLst xmlns:a="http://schemas.openxmlformats.org/drawingml/2006/main">
              <a:ext uri="{FF2B5EF4-FFF2-40B4-BE49-F238E27FC236}">
                <a16:creationId xmlns:a16="http://schemas.microsoft.com/office/drawing/2014/main" id="{FA4030F8-DBBB-41FB-8C00-54A31A5D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860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×  core → modul eller provider-SDK</a:t>
            </a:r>
          </a:p>
        </p:txBody>
      </p:sp>
      <p:sp>
        <p:nvSpPr>
          <p:cNvPr id="21" name="forbidden-1">
            <a:extLst xmlns:a="http://schemas.openxmlformats.org/drawingml/2006/main">
              <a:ext uri="{FF2B5EF4-FFF2-40B4-BE49-F238E27FC236}">
                <a16:creationId xmlns:a16="http://schemas.microsoft.com/office/drawing/2014/main" id="{FBABB28A-513D-4450-A532-D848933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337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forbidden-text-1">
            <a:extLst xmlns:a="http://schemas.openxmlformats.org/drawingml/2006/main">
              <a:ext uri="{FF2B5EF4-FFF2-40B4-BE49-F238E27FC236}">
                <a16:creationId xmlns:a16="http://schemas.microsoft.com/office/drawing/2014/main" id="{9F306F31-A6D6-455A-AA7B-A9EDCD36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  modul → konkret adapter</a:t>
            </a:r>
          </a:p>
        </p:txBody>
      </p:sp>
      <p:sp>
        <p:nvSpPr>
          <p:cNvPr id="23" name="forbidden-2">
            <a:extLst xmlns:a="http://schemas.openxmlformats.org/drawingml/2006/main">
              <a:ext uri="{FF2B5EF4-FFF2-40B4-BE49-F238E27FC236}">
                <a16:creationId xmlns:a16="http://schemas.microsoft.com/office/drawing/2014/main" id="{0E165F1A-D7A9-4514-9D06-03F80A89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338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forbidden-text-2">
            <a:extLst xmlns:a="http://schemas.openxmlformats.org/drawingml/2006/main">
              <a:ext uri="{FF2B5EF4-FFF2-40B4-BE49-F238E27FC236}">
                <a16:creationId xmlns:a16="http://schemas.microsoft.com/office/drawing/2014/main" id="{CA360833-CF1F-47B9-AB63-0B1A0359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862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  adapter → domänpolicy</a:t>
            </a:r>
          </a:p>
        </p:txBody>
      </p:sp>
      <p:sp>
        <p:nvSpPr>
          <p:cNvPr id="25" name="forbidden-3">
            <a:extLst xmlns:a="http://schemas.openxmlformats.org/drawingml/2006/main">
              <a:ext uri="{FF2B5EF4-FFF2-40B4-BE49-F238E27FC236}">
                <a16:creationId xmlns:a16="http://schemas.microsoft.com/office/drawing/2014/main" id="{F3FBE210-602B-484C-BF72-20CB2864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339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forbidden-text-3">
            <a:extLst xmlns:a="http://schemas.openxmlformats.org/drawingml/2006/main">
              <a:ext uri="{FF2B5EF4-FFF2-40B4-BE49-F238E27FC236}">
                <a16:creationId xmlns:a16="http://schemas.microsoft.com/office/drawing/2014/main" id="{95BC0690-DEB2-4442-91A8-EA1A3661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863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×  Test UI → interna paket eller write</a:t>
            </a:r>
          </a:p>
        </p:txBody>
      </p:sp>
    </p:spTree>
    <p:extLst>
      <p:ext uri="{BB962C8B-B14F-4D97-AF65-F5344CB8AC3E}">
        <p14:creationId xmlns:p14="http://schemas.microsoft.com/office/powerpoint/2010/main" val="5370666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590FC749-6C56-4478-866A-A9BB025E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 körning passerar explicita gates innan någonting får commit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55CFD246-28C3-4CA1-97BC-A64D4311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38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4" name="timeline-1"/>
          <p:cNvCxnSpPr/>
          <p:nvPr/>
        </p:nvCxnSpPr>
        <p:spPr>
          <a:xfrm xmlns:a="http://schemas.openxmlformats.org/drawingml/2006/main">
            <a:off x="914400" y="3238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5" name="timeline-2"/>
          <p:cNvCxnSpPr/>
          <p:nvPr/>
        </p:nvCxnSpPr>
        <p:spPr>
          <a:xfrm xmlns:a="http://schemas.openxmlformats.org/drawingml/2006/main">
            <a:off x="4324350" y="3238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timeline-3"/>
          <p:cNvCxnSpPr/>
          <p:nvPr/>
        </p:nvCxnSpPr>
        <p:spPr>
          <a:xfrm xmlns:a="http://schemas.openxmlformats.org/drawingml/2006/main">
            <a:off x="7734300" y="3238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stage-dot-1">
            <a:extLst xmlns:a="http://schemas.openxmlformats.org/drawingml/2006/main">
              <a:ext uri="{FF2B5EF4-FFF2-40B4-BE49-F238E27FC236}">
                <a16:creationId xmlns:a16="http://schemas.microsoft.com/office/drawing/2014/main" id="{9CC169D1-8CE8-4A3D-89E5-8A6BF2B4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90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-1">
            <a:extLst xmlns:a="http://schemas.openxmlformats.org/drawingml/2006/main">
              <a:ext uri="{FF2B5EF4-FFF2-40B4-BE49-F238E27FC236}">
                <a16:creationId xmlns:a16="http://schemas.microsoft.com/office/drawing/2014/main" id="{02381D87-34E0-4A33-BA71-27FAFD3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head-1">
            <a:extLst xmlns:a="http://schemas.openxmlformats.org/drawingml/2006/main">
              <a:ext uri="{FF2B5EF4-FFF2-40B4-BE49-F238E27FC236}">
                <a16:creationId xmlns:a16="http://schemas.microsoft.com/office/drawing/2014/main" id="{CCA98BB5-9F7C-46A8-82A5-B873021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Begäran</a:t>
            </a:r>
          </a:p>
        </p:txBody>
      </p:sp>
      <p:sp>
        <p:nvSpPr>
          <p:cNvPr id="9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E9D87A7B-51F2-4088-91C8-42983DD2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Identitet, kontrakt, revision och policy valideras före modellcall.</a:t>
            </a:r>
          </a:p>
        </p:txBody>
      </p:sp>
      <p:sp>
        <p:nvSpPr>
          <p:cNvPr id="10" name="stage-dot-2">
            <a:extLst xmlns:a="http://schemas.openxmlformats.org/drawingml/2006/main">
              <a:ext uri="{FF2B5EF4-FFF2-40B4-BE49-F238E27FC236}">
                <a16:creationId xmlns:a16="http://schemas.microsoft.com/office/drawing/2014/main" id="{668A17D4-870E-4FDC-9334-D1577EF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num-2">
            <a:extLst xmlns:a="http://schemas.openxmlformats.org/drawingml/2006/main">
              <a:ext uri="{FF2B5EF4-FFF2-40B4-BE49-F238E27FC236}">
                <a16:creationId xmlns:a16="http://schemas.microsoft.com/office/drawing/2014/main" id="{08CEA639-7FA1-4620-8655-2BBFDE99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age-head-2">
            <a:extLst xmlns:a="http://schemas.openxmlformats.org/drawingml/2006/main">
              <a:ext uri="{FF2B5EF4-FFF2-40B4-BE49-F238E27FC236}">
                <a16:creationId xmlns:a16="http://schemas.microsoft.com/office/drawing/2014/main" id="{15548AA2-DFAE-4D4F-97F3-6562A6BA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Kandidat</a:t>
            </a:r>
          </a:p>
        </p:txBody>
      </p:sp>
      <p:sp>
        <p:nvSpPr>
          <p:cNvPr id="13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4A7A7C54-D9BC-4DA5-AFA9-11F9DB0B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Svaret parsas, schema- och semantikvalideras och tolkas.</a:t>
            </a:r>
          </a:p>
        </p:txBody>
      </p:sp>
      <p:sp>
        <p:nvSpPr>
          <p:cNvPr id="14" name="stage-dot-3">
            <a:extLst xmlns:a="http://schemas.openxmlformats.org/drawingml/2006/main">
              <a:ext uri="{FF2B5EF4-FFF2-40B4-BE49-F238E27FC236}">
                <a16:creationId xmlns:a16="http://schemas.microsoft.com/office/drawing/2014/main" id="{50DFF449-A97D-40FE-A6C4-9CEF6676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num-3">
            <a:extLst xmlns:a="http://schemas.openxmlformats.org/drawingml/2006/main">
              <a:ext uri="{FF2B5EF4-FFF2-40B4-BE49-F238E27FC236}">
                <a16:creationId xmlns:a16="http://schemas.microsoft.com/office/drawing/2014/main" id="{752A851D-C2F1-440F-9914-698CE1C2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670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age-head-3">
            <a:extLst xmlns:a="http://schemas.openxmlformats.org/drawingml/2006/main">
              <a:ext uri="{FF2B5EF4-FFF2-40B4-BE49-F238E27FC236}">
                <a16:creationId xmlns:a16="http://schemas.microsoft.com/office/drawing/2014/main" id="{817422EF-51BD-4786-AC54-E278EB39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Förberedelse</a:t>
            </a:r>
          </a:p>
        </p:txBody>
      </p:sp>
      <p:sp>
        <p:nvSpPr>
          <p:cNvPr id="17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4BC8E75A-643B-4D75-9C81-E0448AE1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Minnesbeslut, state projection, invariants och operation digest.</a:t>
            </a:r>
          </a:p>
        </p:txBody>
      </p:sp>
      <p:sp>
        <p:nvSpPr>
          <p:cNvPr id="18" name="stage-dot-4">
            <a:extLst xmlns:a="http://schemas.openxmlformats.org/drawingml/2006/main">
              <a:ext uri="{FF2B5EF4-FFF2-40B4-BE49-F238E27FC236}">
                <a16:creationId xmlns:a16="http://schemas.microsoft.com/office/drawing/2014/main" id="{A92E7CC8-CB67-4222-9F16-4E393335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90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num-4">
            <a:extLst xmlns:a="http://schemas.openxmlformats.org/drawingml/2006/main">
              <a:ext uri="{FF2B5EF4-FFF2-40B4-BE49-F238E27FC236}">
                <a16:creationId xmlns:a16="http://schemas.microsoft.com/office/drawing/2014/main" id="{82A76FF3-B163-481E-8C2B-F0DF5C1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age-head-4">
            <a:extLst xmlns:a="http://schemas.openxmlformats.org/drawingml/2006/main">
              <a:ext uri="{FF2B5EF4-FFF2-40B4-BE49-F238E27FC236}">
                <a16:creationId xmlns:a16="http://schemas.microsoft.com/office/drawing/2014/main" id="{19198B64-D950-4E75-9306-2AC1031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48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Commit + replay</a:t>
            </a:r>
          </a:p>
        </p:txBody>
      </p:sp>
      <p:sp>
        <p:nvSpPr>
          <p:cNvPr id="21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27BCCD9B-C6E9-4D5E-8253-B173C7E4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005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CAS-commit gör effekter kanoniska; replay verifierar evidensen offline.</a:t>
            </a:r>
          </a:p>
        </p:txBody>
      </p:sp>
    </p:spTree>
    <p:extLst>
      <p:ext uri="{BB962C8B-B14F-4D97-AF65-F5344CB8AC3E}">
        <p14:creationId xmlns:p14="http://schemas.microsoft.com/office/powerpoint/2010/main" val="88447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2A7EC869-65FB-4F35-95FB-FFA0542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Två olika domäner bevisar att mekaniken inte är Narrative-specifik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3B3AC60B-C86B-46C6-A701-E64FCD1F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38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narrative-field">
            <a:extLst xmlns:a="http://schemas.openxmlformats.org/drawingml/2006/main">
              <a:ext uri="{FF2B5EF4-FFF2-40B4-BE49-F238E27FC236}">
                <a16:creationId xmlns:a16="http://schemas.microsoft.com/office/drawing/2014/main" id="{9F314C2B-475B-4F85-B73A-BFC6833C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51911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esearch-field">
            <a:extLst xmlns:a="http://schemas.openxmlformats.org/drawingml/2006/main">
              <a:ext uri="{FF2B5EF4-FFF2-40B4-BE49-F238E27FC236}">
                <a16:creationId xmlns:a16="http://schemas.microsoft.com/office/drawing/2014/main" id="{CD6839E1-24D3-47C6-9401-754259FA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51911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arrative-title">
            <a:extLst xmlns:a="http://schemas.openxmlformats.org/drawingml/2006/main">
              <a:ext uri="{FF2B5EF4-FFF2-40B4-BE49-F238E27FC236}">
                <a16:creationId xmlns:a16="http://schemas.microsoft.com/office/drawing/2014/main" id="{D9D11DF4-1CC8-48BA-B105-6CA7D71A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NarrativeModule</a:t>
            </a:r>
          </a:p>
        </p:txBody>
      </p:sp>
      <p:sp>
        <p:nvSpPr>
          <p:cNvPr id="6" name="research-title">
            <a:extLst xmlns:a="http://schemas.openxmlformats.org/drawingml/2006/main">
              <a:ext uri="{FF2B5EF4-FFF2-40B4-BE49-F238E27FC236}">
                <a16:creationId xmlns:a16="http://schemas.microsoft.com/office/drawing/2014/main" id="{2CA8D02F-8351-480C-B714-7E8DB2F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6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ResearchModule</a:t>
            </a:r>
          </a:p>
        </p:txBody>
      </p:sp>
      <p:sp>
        <p:nvSpPr>
          <p:cNvPr id="7" name="narrative-body">
            <a:extLst xmlns:a="http://schemas.openxmlformats.org/drawingml/2006/main">
              <a:ext uri="{FF2B5EF4-FFF2-40B4-BE49-F238E27FC236}">
                <a16:creationId xmlns:a16="http://schemas.microsoft.com/office/drawing/2014/main" id="{3F49DF83-7B98-4B61-8C9E-8526A71C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409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Observerar dokument</a:t>
            </a:r>
          </a:p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Bevarar kontinuitet och kunskap</a:t>
            </a:r>
          </a:p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Domänägda minnesbeslut</a:t>
            </a:r>
          </a:p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Pure reducer + invariants</a:t>
            </a:r>
          </a:p>
        </p:txBody>
      </p:sp>
      <p:sp>
        <p:nvSpPr>
          <p:cNvPr id="8" name="research-body">
            <a:extLst xmlns:a="http://schemas.openxmlformats.org/drawingml/2006/main">
              <a:ext uri="{FF2B5EF4-FFF2-40B4-BE49-F238E27FC236}">
                <a16:creationId xmlns:a16="http://schemas.microsoft.com/office/drawing/2014/main" id="{D2EACBDE-1A5B-4D86-954D-BE4DB144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19375"/>
            <a:ext cx="409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Observerar evidens</a:t>
            </a:r>
          </a:p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Spårar propositioner och källor</a:t>
            </a:r>
          </a:p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Korroboration och motsägelser</a:t>
            </a:r>
          </a:p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Pure reducer + invariants</a:t>
            </a:r>
          </a:p>
        </p:txBody>
      </p:sp>
      <p:sp>
        <p:nvSpPr>
          <p:cNvPr id="9" name="shared-core">
            <a:extLst xmlns:a="http://schemas.openxmlformats.org/drawingml/2006/main">
              <a:ext uri="{FF2B5EF4-FFF2-40B4-BE49-F238E27FC236}">
                <a16:creationId xmlns:a16="http://schemas.microsoft.com/office/drawing/2014/main" id="{F070A720-591A-4BE6-87FA-93E901B1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72100"/>
            <a:ext cx="8667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red-core-text">
            <a:extLst xmlns:a="http://schemas.openxmlformats.org/drawingml/2006/main">
              <a:ext uri="{FF2B5EF4-FFF2-40B4-BE49-F238E27FC236}">
                <a16:creationId xmlns:a16="http://schemas.microsoft.com/office/drawing/2014/main" id="{A272909C-3044-4D5C-9AF3-E42F5D37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62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Samma kärna: ExecutionEngine · MemoryEngine · StateEngine · replay</a:t>
            </a:r>
          </a:p>
        </p:txBody>
      </p:sp>
    </p:spTree>
    <p:extLst>
      <p:ext uri="{BB962C8B-B14F-4D97-AF65-F5344CB8AC3E}">
        <p14:creationId xmlns:p14="http://schemas.microsoft.com/office/powerpoint/2010/main" val="9326935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6">
            <a:extLst xmlns:a="http://schemas.openxmlformats.org/drawingml/2006/main">
              <a:ext uri="{FF2B5EF4-FFF2-40B4-BE49-F238E27FC236}">
                <a16:creationId xmlns:a16="http://schemas.microsoft.com/office/drawing/2014/main" id="{7A1F7370-AF6E-46AC-AAC6-8A2C2F8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Evidens är en förstaklassprodukt — inte loggtext i efterhand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9A049DFC-55FB-4FD7-AC17-E6757AD1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38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evidence-0">
            <a:extLst xmlns:a="http://schemas.openxmlformats.org/drawingml/2006/main">
              <a:ext uri="{FF2B5EF4-FFF2-40B4-BE49-F238E27FC236}">
                <a16:creationId xmlns:a16="http://schemas.microsoft.com/office/drawing/2014/main" id="{4F7EFB47-3523-412E-AE26-FE23FE5B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evidence-head-0">
            <a:extLst xmlns:a="http://schemas.openxmlformats.org/drawingml/2006/main">
              <a:ext uri="{FF2B5EF4-FFF2-40B4-BE49-F238E27FC236}">
                <a16:creationId xmlns:a16="http://schemas.microsoft.com/office/drawing/2014/main" id="{D2F48099-8BF4-48A9-977B-B68A305C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192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Exakt identitet</a:t>
            </a:r>
          </a:p>
        </p:txBody>
      </p:sp>
      <p:sp>
        <p:nvSpPr>
          <p:cNvPr id="5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19EEF930-3449-4DDE-BA7B-8AE708AE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907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requestKey, executionId, contractversion, modelcall och operation digest.</a:t>
            </a:r>
          </a:p>
        </p:txBody>
      </p:sp>
      <p:sp>
        <p:nvSpPr>
          <p:cNvPr id="6" name="evidence-1">
            <a:extLst xmlns:a="http://schemas.openxmlformats.org/drawingml/2006/main">
              <a:ext uri="{FF2B5EF4-FFF2-40B4-BE49-F238E27FC236}">
                <a16:creationId xmlns:a16="http://schemas.microsoft.com/office/drawing/2014/main" id="{0458454A-822F-4591-BC46-E86CD21E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evidence-head-1">
            <a:extLst xmlns:a="http://schemas.openxmlformats.org/drawingml/2006/main">
              <a:ext uri="{FF2B5EF4-FFF2-40B4-BE49-F238E27FC236}">
                <a16:creationId xmlns:a16="http://schemas.microsoft.com/office/drawing/2014/main" id="{379788A1-0066-4978-AC98-5403C69C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192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Transaktionell sanning</a:t>
            </a:r>
          </a:p>
        </p:txBody>
      </p:sp>
      <p:sp>
        <p:nvSpPr>
          <p:cNvPr id="8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9DD3DF49-38E4-4203-9486-4FF7662F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907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Execution-events är kandidater tills samma Unit of Work har committat.</a:t>
            </a:r>
          </a:p>
        </p:txBody>
      </p:sp>
      <p:sp>
        <p:nvSpPr>
          <p:cNvPr id="9" name="evidence-2">
            <a:extLst xmlns:a="http://schemas.openxmlformats.org/drawingml/2006/main">
              <a:ext uri="{FF2B5EF4-FFF2-40B4-BE49-F238E27FC236}">
                <a16:creationId xmlns:a16="http://schemas.microsoft.com/office/drawing/2014/main" id="{ECE61B02-CFCB-45DF-9A9A-1D61D4F5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evidence-head-2">
            <a:extLst xmlns:a="http://schemas.openxmlformats.org/drawingml/2006/main">
              <a:ext uri="{FF2B5EF4-FFF2-40B4-BE49-F238E27FC236}">
                <a16:creationId xmlns:a16="http://schemas.microsoft.com/office/drawing/2014/main" id="{31DA8165-618C-4D73-9F53-7A6D547F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052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Offline replay</a:t>
            </a:r>
          </a:p>
        </p:txBody>
      </p:sp>
      <p:sp>
        <p:nvSpPr>
          <p:cNvPr id="11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7E01A37E-71A5-4127-B592-7340D3C0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767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Verifiering ger exakt match, different eller unavailable — aldrig ett gissat svar.</a:t>
            </a:r>
          </a:p>
        </p:txBody>
      </p:sp>
      <p:sp>
        <p:nvSpPr>
          <p:cNvPr id="12" name="evidence-3">
            <a:extLst xmlns:a="http://schemas.openxmlformats.org/drawingml/2006/main">
              <a:ext uri="{FF2B5EF4-FFF2-40B4-BE49-F238E27FC236}">
                <a16:creationId xmlns:a16="http://schemas.microsoft.com/office/drawing/2014/main" id="{93026EF2-EEB8-4B5F-98AC-AD139797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evidence-head-3">
            <a:extLst xmlns:a="http://schemas.openxmlformats.org/drawingml/2006/main">
              <a:ext uri="{FF2B5EF4-FFF2-40B4-BE49-F238E27FC236}">
                <a16:creationId xmlns:a16="http://schemas.microsoft.com/office/drawing/2014/main" id="{649BE904-CD78-4004-A196-A72A3F5C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052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Kontrollerad retention</a:t>
            </a:r>
          </a:p>
        </p:txBody>
      </p:sp>
      <p:sp>
        <p:nvSpPr>
          <p:cNvPr id="14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754E0A08-7046-4D70-BE3D-E1014C3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767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none, hash-only eller encrypted-payload; frånvaro visas som frånvaro.</a:t>
            </a:r>
          </a:p>
        </p:txBody>
      </p:sp>
    </p:spTree>
    <p:extLst>
      <p:ext uri="{BB962C8B-B14F-4D97-AF65-F5344CB8AC3E}">
        <p14:creationId xmlns:p14="http://schemas.microsoft.com/office/powerpoint/2010/main" val="11971117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60FD85ED-2CC3-461E-92ED-BBE23C9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Kvalitet är ett separat lager — fyra frågor, fyra kontrakt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4F431FBF-2B9B-4101-9034-781960B2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38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quality-row-0">
            <a:extLst xmlns:a="http://schemas.openxmlformats.org/drawingml/2006/main">
              <a:ext uri="{FF2B5EF4-FFF2-40B4-BE49-F238E27FC236}">
                <a16:creationId xmlns:a16="http://schemas.microsoft.com/office/drawing/2014/main" id="{D619CA05-7567-4FD6-B0AC-E941576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14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quality-kind-0">
            <a:extLst xmlns:a="http://schemas.openxmlformats.org/drawingml/2006/main">
              <a:ext uri="{FF2B5EF4-FFF2-40B4-BE49-F238E27FC236}">
                <a16:creationId xmlns:a16="http://schemas.microsoft.com/office/drawing/2014/main" id="{FE85F5A7-8BEE-4907-B784-D815CB0D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ASSERTION</a:t>
            </a:r>
          </a:p>
        </p:txBody>
      </p:sp>
      <p:sp>
        <p:nvSpPr>
          <p:cNvPr id="5" name="quality-question-0">
            <a:extLst xmlns:a="http://schemas.openxmlformats.org/drawingml/2006/main">
              <a:ext uri="{FF2B5EF4-FFF2-40B4-BE49-F238E27FC236}">
                <a16:creationId xmlns:a16="http://schemas.microsoft.com/office/drawing/2014/main" id="{003FFAAC-0BAD-4A43-BE01-3CF1043D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906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Blev ett exakt förväntat faktum sant?</a:t>
            </a:r>
          </a:p>
        </p:txBody>
      </p:sp>
      <p:sp>
        <p:nvSpPr>
          <p:cNvPr id="6" name="quality-output-0">
            <a:extLst xmlns:a="http://schemas.openxmlformats.org/drawingml/2006/main">
              <a:ext uri="{FF2B5EF4-FFF2-40B4-BE49-F238E27FC236}">
                <a16:creationId xmlns:a16="http://schemas.microsoft.com/office/drawing/2014/main" id="{F462BA93-E6F3-4E96-A885-28ECB3CE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002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ScenarioRunner</a:t>
            </a:r>
          </a:p>
        </p:txBody>
      </p:sp>
      <p:sp>
        <p:nvSpPr>
          <p:cNvPr id="7" name="quality-row-1">
            <a:extLst xmlns:a="http://schemas.openxmlformats.org/drawingml/2006/main">
              <a:ext uri="{FF2B5EF4-FFF2-40B4-BE49-F238E27FC236}">
                <a16:creationId xmlns:a16="http://schemas.microsoft.com/office/drawing/2014/main" id="{FC82F6F3-EF8E-4DEE-ACE5-52F9383A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1114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quality-kind-1">
            <a:extLst xmlns:a="http://schemas.openxmlformats.org/drawingml/2006/main">
              <a:ext uri="{FF2B5EF4-FFF2-40B4-BE49-F238E27FC236}">
                <a16:creationId xmlns:a16="http://schemas.microsoft.com/office/drawing/2014/main" id="{5639E534-E6E3-42C2-84C3-EFFC5997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9" name="quality-question-1">
            <a:extLst xmlns:a="http://schemas.openxmlformats.org/drawingml/2006/main">
              <a:ext uri="{FF2B5EF4-FFF2-40B4-BE49-F238E27FC236}">
                <a16:creationId xmlns:a16="http://schemas.microsoft.com/office/drawing/2014/main" id="{4272C039-883D-4890-B1DB-2D486575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Hur ser en population av observerade runs ut?</a:t>
            </a:r>
          </a:p>
        </p:txBody>
      </p:sp>
      <p:sp>
        <p:nvSpPr>
          <p:cNvPr id="10" name="quality-output-1">
            <a:extLst xmlns:a="http://schemas.openxmlformats.org/drawingml/2006/main">
              <a:ext uri="{FF2B5EF4-FFF2-40B4-BE49-F238E27FC236}">
                <a16:creationId xmlns:a16="http://schemas.microsoft.com/office/drawing/2014/main" id="{538966D7-15A8-4F94-8A09-8D62E94D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S8 measurement</a:t>
            </a:r>
          </a:p>
        </p:txBody>
      </p:sp>
      <p:sp>
        <p:nvSpPr>
          <p:cNvPr id="11" name="quality-row-2">
            <a:extLst xmlns:a="http://schemas.openxmlformats.org/drawingml/2006/main">
              <a:ext uri="{FF2B5EF4-FFF2-40B4-BE49-F238E27FC236}">
                <a16:creationId xmlns:a16="http://schemas.microsoft.com/office/drawing/2014/main" id="{9D6D0FB1-613D-4044-A4ED-B8964DB2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57600"/>
            <a:ext cx="1114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quality-kind-2">
            <a:extLst xmlns:a="http://schemas.openxmlformats.org/drawingml/2006/main">
              <a:ext uri="{FF2B5EF4-FFF2-40B4-BE49-F238E27FC236}">
                <a16:creationId xmlns:a16="http://schemas.microsoft.com/office/drawing/2014/main" id="{640351E0-E67B-4595-AFE1-49DA4EA8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PRE-COMMIT EVALUATION</a:t>
            </a:r>
          </a:p>
        </p:txBody>
      </p:sp>
      <p:sp>
        <p:nvSpPr>
          <p:cNvPr id="13" name="quality-question-2">
            <a:extLst xmlns:a="http://schemas.openxmlformats.org/drawingml/2006/main">
              <a:ext uri="{FF2B5EF4-FFF2-40B4-BE49-F238E27FC236}">
                <a16:creationId xmlns:a16="http://schemas.microsoft.com/office/drawing/2014/main" id="{2C4ED0D8-AF32-416D-BB15-1FA1712F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952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Får kandidaten påverka kanoniskt tillstånd?</a:t>
            </a:r>
          </a:p>
        </p:txBody>
      </p:sp>
      <p:sp>
        <p:nvSpPr>
          <p:cNvPr id="14" name="quality-output-2">
            <a:extLst xmlns:a="http://schemas.openxmlformats.org/drawingml/2006/main">
              <a:ext uri="{FF2B5EF4-FFF2-40B4-BE49-F238E27FC236}">
                <a16:creationId xmlns:a16="http://schemas.microsoft.com/office/drawing/2014/main" id="{BE4C1EF4-E449-4465-A02A-EA0E5C53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allow / block / revise</a:t>
            </a:r>
          </a:p>
        </p:txBody>
      </p:sp>
      <p:sp>
        <p:nvSpPr>
          <p:cNvPr id="15" name="quality-row-3">
            <a:extLst xmlns:a="http://schemas.openxmlformats.org/drawingml/2006/main">
              <a:ext uri="{FF2B5EF4-FFF2-40B4-BE49-F238E27FC236}">
                <a16:creationId xmlns:a16="http://schemas.microsoft.com/office/drawing/2014/main" id="{A0AD73E3-6C39-4CF3-B1D6-E2BE57E9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72025"/>
            <a:ext cx="1114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quality-kind-3">
            <a:extLst xmlns:a="http://schemas.openxmlformats.org/drawingml/2006/main">
              <a:ext uri="{FF2B5EF4-FFF2-40B4-BE49-F238E27FC236}">
                <a16:creationId xmlns:a16="http://schemas.microsoft.com/office/drawing/2014/main" id="{2BCF1495-6A68-4F19-ADA7-0BC726F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POST-EXEC QUALITY</a:t>
            </a:r>
          </a:p>
        </p:txBody>
      </p:sp>
      <p:sp>
        <p:nvSpPr>
          <p:cNvPr id="17" name="quality-question-3">
            <a:extLst xmlns:a="http://schemas.openxmlformats.org/drawingml/2006/main">
              <a:ext uri="{FF2B5EF4-FFF2-40B4-BE49-F238E27FC236}">
                <a16:creationId xmlns:a16="http://schemas.microsoft.com/office/drawing/2014/main" id="{C63FFAF0-92FA-4DC4-8E99-DB62EBB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Hur bedöms ett exakt bundet resultat?</a:t>
            </a:r>
          </a:p>
        </p:txBody>
      </p:sp>
      <p:sp>
        <p:nvSpPr>
          <p:cNvPr id="18" name="quality-output-3">
            <a:extLst xmlns:a="http://schemas.openxmlformats.org/drawingml/2006/main">
              <a:ext uri="{FF2B5EF4-FFF2-40B4-BE49-F238E27FC236}">
                <a16:creationId xmlns:a16="http://schemas.microsoft.com/office/drawing/2014/main" id="{855AADFC-5C6D-4319-A5A8-AFB6C142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43475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scores / findings / verdict</a:t>
            </a:r>
          </a:p>
        </p:txBody>
      </p:sp>
      <p:sp>
        <p:nvSpPr>
          <p:cNvPr id="19" name="quality-foot">
            <a:extLst xmlns:a="http://schemas.openxmlformats.org/drawingml/2006/main">
              <a:ext uri="{FF2B5EF4-FFF2-40B4-BE49-F238E27FC236}">
                <a16:creationId xmlns:a16="http://schemas.microsoft.com/office/drawing/2014/main" id="{B9D463D9-A6A4-4EA7-8909-04D53E2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ADR-0025: deterministic evaluator eller exakt recorded-external replay. Ingen generell AI judge.</a:t>
            </a:r>
          </a:p>
        </p:txBody>
      </p:sp>
    </p:spTree>
    <p:extLst>
      <p:ext uri="{BB962C8B-B14F-4D97-AF65-F5344CB8AC3E}">
        <p14:creationId xmlns:p14="http://schemas.microsoft.com/office/powerpoint/2010/main" val="19780915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A8C5E1C5-8487-4D36-A387-DC16A57B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Grunden verifieras offline i flera oberoende lager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6C59035B-C975-4240-A8AB-58BE9577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238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verification-lead">
            <a:extLst xmlns:a="http://schemas.openxmlformats.org/drawingml/2006/main">
              <a:ext uri="{FF2B5EF4-FFF2-40B4-BE49-F238E27FC236}">
                <a16:creationId xmlns:a16="http://schemas.microsoft.com/office/drawing/2014/main" id="{63D1FEE7-DF36-4EE0-964A-3029F2D2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Siffrorna är testresultat från den synkroniserade ACME-0054-baslinjen — inte produktbenchmarks.</a:t>
            </a:r>
          </a:p>
        </p:txBody>
      </p:sp>
      <p:sp>
        <p:nvSpPr>
          <p:cNvPr id="4" name="stat-card-0">
            <a:extLst xmlns:a="http://schemas.openxmlformats.org/drawingml/2006/main">
              <a:ext uri="{FF2B5EF4-FFF2-40B4-BE49-F238E27FC236}">
                <a16:creationId xmlns:a16="http://schemas.microsoft.com/office/drawing/2014/main" id="{9859246C-0026-4DE6-8902-6D78C52C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2BD1D287-6941-4AE2-9EA1-193E8DE8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860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560</a:t>
            </a:r>
          </a:p>
        </p:txBody>
      </p:sp>
      <p:sp>
        <p:nvSpPr>
          <p:cNvPr id="6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39193446-2791-4B9B-AE4D-95E00F5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 tests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64 filer</a:t>
            </a:r>
          </a:p>
        </p:txBody>
      </p:sp>
      <p:sp>
        <p:nvSpPr>
          <p:cNvPr id="7" name="stat-card-1">
            <a:extLst xmlns:a="http://schemas.openxmlformats.org/drawingml/2006/main">
              <a:ext uri="{FF2B5EF4-FFF2-40B4-BE49-F238E27FC236}">
                <a16:creationId xmlns:a16="http://schemas.microsoft.com/office/drawing/2014/main" id="{4965BA0A-E8B4-4038-BE53-6E356A6D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DBF684A5-6186-409C-A716-EEFE50E4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9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D44C4027-44DC-4509-BE6E-4F242ED6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conformance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 filer</a:t>
            </a:r>
          </a:p>
        </p:txBody>
      </p:sp>
      <p:sp>
        <p:nvSpPr>
          <p:cNvPr id="10" name="stat-card-2">
            <a:extLst xmlns:a="http://schemas.openxmlformats.org/drawingml/2006/main">
              <a:ext uri="{FF2B5EF4-FFF2-40B4-BE49-F238E27FC236}">
                <a16:creationId xmlns:a16="http://schemas.microsoft.com/office/drawing/2014/main" id="{7E2A03F2-1D93-4D03-875D-4E29161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B7E26DA0-82A8-4689-BEA2-D3E1CEC6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860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A6418259-0705-4C77-A1F5-E8757F99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00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scenario tests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 filer</a:t>
            </a:r>
          </a:p>
        </p:txBody>
      </p:sp>
      <p:sp>
        <p:nvSpPr>
          <p:cNvPr id="13" name="verification-foot">
            <a:extLst xmlns:a="http://schemas.openxmlformats.org/drawingml/2006/main">
              <a:ext uri="{FF2B5EF4-FFF2-40B4-BE49-F238E27FC236}">
                <a16:creationId xmlns:a16="http://schemas.microsoft.com/office/drawing/2014/main" id="{D5672839-8BA9-4D2A-8242-83CC467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Dessutom: 55 integrationstester · docs, format, lint, typecheck, boundaries och build passerar.</a:t>
            </a:r>
          </a:p>
        </p:txBody>
      </p:sp>
    </p:spTree>
    <p:extLst>
      <p:ext uri="{BB962C8B-B14F-4D97-AF65-F5344CB8AC3E}">
        <p14:creationId xmlns:p14="http://schemas.microsoft.com/office/powerpoint/2010/main" val="8155445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ADC984F7-530A-4872-95B9-ECA364C7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SLUTSATS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47BC8FC-D5A2-4D7C-A508-109CE8C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Grunden är fast.</a:t>
            </a:r>
          </a:p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Nästa steg är ett medvetet val.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2E05A573-53F7-404D-91C7-3C41E5D7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ACME har nu domänneutral exekvering, replaybar evidens, beständig lokal lagring, två referensdomäner, en komplett lokal Test UI och ett separat kvalitetsskikt.</a:t>
            </a:r>
          </a:p>
        </p:txBody>
      </p:sp>
      <p:sp>
        <p:nvSpPr>
          <p:cNvPr id="4" name="next-field">
            <a:extLst xmlns:a="http://schemas.openxmlformats.org/drawingml/2006/main">
              <a:ext uri="{FF2B5EF4-FFF2-40B4-BE49-F238E27FC236}">
                <a16:creationId xmlns:a16="http://schemas.microsoft.com/office/drawing/2014/main" id="{8875176C-3044-49DD-9440-62C3BCA5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85875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ext-title">
            <a:extLst xmlns:a="http://schemas.openxmlformats.org/drawingml/2006/main">
              <a:ext uri="{FF2B5EF4-FFF2-40B4-BE49-F238E27FC236}">
                <a16:creationId xmlns:a16="http://schemas.microsoft.com/office/drawing/2014/main" id="{11100701-D3BC-44C7-8919-A48CC978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Öppna val</a:t>
            </a:r>
          </a:p>
        </p:txBody>
      </p:sp>
      <p:sp>
        <p:nvSpPr>
          <p:cNvPr id="6" name="next-list">
            <a:extLst xmlns:a="http://schemas.openxmlformats.org/drawingml/2006/main">
              <a:ext uri="{FF2B5EF4-FFF2-40B4-BE49-F238E27FC236}">
                <a16:creationId xmlns:a16="http://schemas.microsoft.com/office/drawing/2014/main" id="{58452C18-CC20-476B-B25A-4CA5323B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714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Durable quality store</a:t>
            </a:r>
          </a:p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Driver-error classification</a:t>
            </a:r>
          </a:p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Outbox-redrive + transport</a:t>
            </a:r>
          </a:p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Operatörsytor för stranded runs</a:t>
            </a:r>
          </a:p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Multi-step live scenarios</a:t>
            </a:r>
          </a:p>
        </p:txBody>
      </p:sp>
      <p:sp>
        <p:nvSpPr>
          <p:cNvPr id="7" name="close-meta">
            <a:extLst xmlns:a="http://schemas.openxmlformats.org/drawingml/2006/main">
              <a:ext uri="{FF2B5EF4-FFF2-40B4-BE49-F238E27FC236}">
                <a16:creationId xmlns:a16="http://schemas.microsoft.com/office/drawing/2014/main" id="{0A695ABE-BEB0-4239-997E-105DDFBD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Adaptive Context Memory Engine</a:t>
            </a:r>
          </a:p>
        </p:txBody>
      </p:sp>
    </p:spTree>
    <p:extLst>
      <p:ext uri="{BB962C8B-B14F-4D97-AF65-F5344CB8AC3E}">
        <p14:creationId xmlns:p14="http://schemas.microsoft.com/office/powerpoint/2010/main" val="1934861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2026-08-05T23:21:49.2920000Z</dcterms:created>
  <dcterms:modified xsi:type="dcterms:W3CDTF">2026-08-05T23:21:49.2930000Z</dcterms:modified>
</coreProperties>
</file>